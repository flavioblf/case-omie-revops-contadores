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ortunidade" id="{a5cdb9a6-aba3-2f64-83f7-ba3c8a5ba583}">
          <p14:sldIdLst>
            <p14:sldId id="256"/>
          </p14:sldIdLst>
        </p14:section>
        <p14:section name="Onde está o dinheiro" id="{98cd6bc7-8b06-d87b-cf76-99144635dc42}">
          <p14:sldIdLst>
            <p14:sldId id="257"/>
          </p14:sldIdLst>
        </p14:section>
        <p14:section name="Drivers de conversão" id="{6c8c947a-271f-9755-46f8-6e44deebcb31}">
          <p14:sldIdLst>
            <p14:sldId id="258"/>
          </p14:sldIdLst>
        </p14:section>
        <p14:section name="Capacity e EC adicional" id="{76aa7d0b-97af-260c-27bd-0797f36d04f4}">
          <p14:sldIdLst>
            <p14:sldId id="259"/>
          </p14:sldIdLst>
        </p14:section>
        <p14:section name="Ações imediatas" id="{9c27c8cb-6454-384d-aae3-58b1fe0ab0eb}">
          <p14:sldIdLst>
            <p14:sldId id="260"/>
          </p14:sldIdLst>
        </p14:section>
        <p14:section name="KPI de 90 dias" id="{05095b63-17f5-db16-fc16-38df9995aed0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Clientes finais nas carteiras endereçáveis, por porte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finais</c:v>
                </c:pt>
              </c:strCache>
            </c:strRef>
          </c:tx>
          <c:spPr>
            <a:solidFill>
              <a:srgbClr val="00E2F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B9D3D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Pequeno · penetração 52,5%</c:v>
                  </c:pt>
                  <c:pt idx="1">
                    <c:v>Autônomo · penetração 21,3%</c:v>
                  </c:pt>
                  <c:pt idx="2">
                    <c:v>Médio · penetração 96,4%</c:v>
                  </c:pt>
                  <c:pt idx="3">
                    <c:v>Grande · penetração 100,0%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4812</c:v>
                </c:pt>
                <c:pt idx="1">
                  <c:v>2878</c:v>
                </c:pt>
                <c:pt idx="2">
                  <c:v>511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B9D3D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1C4A5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9D3D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1C4A5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9D3D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Clientes finais nas carteiras endereçáveis, por região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finais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Sudeste</c:v>
                  </c:pt>
                  <c:pt idx="1">
                    <c:v>Nordeste</c:v>
                  </c:pt>
                  <c:pt idx="2">
                    <c:v>Sul</c:v>
                  </c:pt>
                  <c:pt idx="3">
                    <c:v>Centro-Oeste</c:v>
                  </c:pt>
                  <c:pt idx="4">
                    <c:v>Norte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4529</c:v>
                </c:pt>
                <c:pt idx="1">
                  <c:v>1257</c:v>
                </c:pt>
                <c:pt idx="2">
                  <c:v>764</c:v>
                </c:pt>
                <c:pt idx="3">
                  <c:v>1234</c:v>
                </c:pt>
                <c:pt idx="4">
                  <c:v>417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5E3E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Conversão por porte: base × pipeline real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(converteu_omie)</c:v>
                </c:pt>
              </c:strCache>
            </c:strRef>
          </c:tx>
          <c:spPr>
            <a:solidFill>
              <a:srgbClr val="006B79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Autônomo</c:v>
                  </c:pt>
                  <c:pt idx="1">
                    <c:v>Pequeno</c:v>
                  </c:pt>
                  <c:pt idx="2">
                    <c:v>Médio</c:v>
                  </c:pt>
                  <c:pt idx="3">
                    <c:v>Grande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0.06827309236947791</c:v>
                </c:pt>
                <c:pt idx="1">
                  <c:v>0.4383561643835616</c:v>
                </c:pt>
                <c:pt idx="2">
                  <c:v>0.9397590361445783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 rate real (pipeline)</c:v>
                </c:pt>
              </c:strCache>
            </c:strRef>
          </c:tx>
          <c:spPr>
            <a:solidFill>
              <a:srgbClr val="FFB54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1E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Autônomo</c:v>
                  </c:pt>
                  <c:pt idx="1">
                    <c:v>Pequeno</c:v>
                  </c:pt>
                  <c:pt idx="2">
                    <c:v>Médio</c:v>
                  </c:pt>
                  <c:pt idx="3">
                    <c:v>Grande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0.6730769230769231</c:v>
                </c:pt>
                <c:pt idx="1">
                  <c:v>0.6428571428571429</c:v>
                </c:pt>
                <c:pt idx="2">
                  <c:v>0.46153846153846156</c:v>
                </c:pt>
                <c:pt idx="3">
                  <c:v>0.7142857142857143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001E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1"/>
        <c:axPos val="l"/>
        <c:majorGridlines>
          <c:spPr>
            <a:ln w="6350" cap="flat">
              <a:solidFill>
                <a:srgbClr val="D5E3E7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01E2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1E2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1E27"/>
                </a:solidFill>
                <a:latin typeface="+mn-lt"/>
              </a:rPr>
              <a:t>Atingimento da meta · franquia e nº de ECs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Abaixo da meta</c:v>
                </c:pt>
              </c:strCache>
            </c:strRef>
          </c:tx>
          <c:spPr>
            <a:solidFill>
              <a:srgbClr val="F0505A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PA · 1 EC</c:v>
                  </c:pt>
                  <c:pt idx="1">
                    <c:v>AM · 1 EC</c:v>
                  </c:pt>
                  <c:pt idx="2">
                    <c:v>BA · 2 EC</c:v>
                  </c:pt>
                  <c:pt idx="3">
                    <c:v>PE · 2 EC</c:v>
                  </c:pt>
                  <c:pt idx="4">
                    <c:v>CE · 1 EC</c:v>
                  </c:pt>
                  <c:pt idx="5">
                    <c:v>RJ · 5 EC</c:v>
                  </c:pt>
                  <c:pt idx="6">
                    <c:v>GO · 2 EC</c:v>
                  </c:pt>
                  <c:pt idx="7">
                    <c:v>DF · 3 EC</c:v>
                  </c:pt>
                  <c:pt idx="8">
                    <c:v>RS · 4 EC</c:v>
                  </c:pt>
                  <c:pt idx="9">
                    <c:v>ES · 2 EC</c:v>
                  </c:pt>
                  <c:pt idx="10">
                    <c:v>SP Interior · 4 EC</c:v>
                  </c:pt>
                  <c:pt idx="11">
                    <c:v>PR · 5 EC</c:v>
                  </c:pt>
                  <c:pt idx="12">
                    <c:v>MG · 3 EC</c:v>
                  </c:pt>
                  <c:pt idx="13">
                    <c:v>SP Capital · 6 EC</c:v>
                  </c:pt>
                  <c:pt idx="14">
                    <c:v>SC · 3 EC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0.7333333333333333</c:v>
                </c:pt>
                <c:pt idx="1">
                  <c:v>0.75</c:v>
                </c:pt>
                <c:pt idx="2">
                  <c:v>0.7857142857142857</c:v>
                </c:pt>
                <c:pt idx="3">
                  <c:v>0.8333333333333334</c:v>
                </c:pt>
                <c:pt idx="4">
                  <c:v>0.85</c:v>
                </c:pt>
                <c:pt idx="5">
                  <c:v>0.875</c:v>
                </c:pt>
                <c:pt idx="6">
                  <c:v>0.875</c:v>
                </c:pt>
                <c:pt idx="7">
                  <c:v>0.9</c:v>
                </c:pt>
                <c:pt idx="8">
                  <c:v>0.9583333333333334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 meta</c:v>
                </c:pt>
              </c:strCache>
            </c:strRef>
          </c:tx>
          <c:spPr>
            <a:solidFill>
              <a:srgbClr val="00B5C4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PA · 1 EC</c:v>
                  </c:pt>
                  <c:pt idx="1">
                    <c:v>AM · 1 EC</c:v>
                  </c:pt>
                  <c:pt idx="2">
                    <c:v>BA · 2 EC</c:v>
                  </c:pt>
                  <c:pt idx="3">
                    <c:v>PE · 2 EC</c:v>
                  </c:pt>
                  <c:pt idx="4">
                    <c:v>CE · 1 EC</c:v>
                  </c:pt>
                  <c:pt idx="5">
                    <c:v>RJ · 5 EC</c:v>
                  </c:pt>
                  <c:pt idx="6">
                    <c:v>GO · 2 EC</c:v>
                  </c:pt>
                  <c:pt idx="7">
                    <c:v>DF · 3 EC</c:v>
                  </c:pt>
                  <c:pt idx="8">
                    <c:v>RS · 4 EC</c:v>
                  </c:pt>
                  <c:pt idx="9">
                    <c:v>ES · 2 EC</c:v>
                  </c:pt>
                  <c:pt idx="10">
                    <c:v>SP Interior · 4 EC</c:v>
                  </c:pt>
                  <c:pt idx="11">
                    <c:v>PR · 5 EC</c:v>
                  </c:pt>
                  <c:pt idx="12">
                    <c:v>MG · 3 EC</c:v>
                  </c:pt>
                  <c:pt idx="13">
                    <c:v>SP Capital · 6 EC</c:v>
                  </c:pt>
                  <c:pt idx="14">
                    <c:v>SC · 3 EC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1.0909090909090908</c:v>
                </c:pt>
                <c:pt idx="10">
                  <c:v>1.1071428571428572</c:v>
                </c:pt>
                <c:pt idx="11">
                  <c:v>1.1333333333333333</c:v>
                </c:pt>
                <c:pt idx="12">
                  <c:v>1.1363636363636365</c:v>
                </c:pt>
                <c:pt idx="13">
                  <c:v>1.1555555555555554</c:v>
                </c:pt>
                <c:pt idx="14">
                  <c:v>1.1666666666666667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5E3E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D5E3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1E2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01E2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Abro com o tamanho da oportunidade. Na base de mercado, 297 dos 600 escritórios já são clientes ou já converteram: penetração de 49,5%. Sobram 303 escritórios endereçáveis, com cerca de 8 mil clientes finais nas carteiras: é isso que o contador ainda pode indicar ou revender.
O ponto principal está no gráfico: o perfil do que sobra. Médios e grandes já foram praticamente todos convertidos, só 3 continuam endereçáveis. O mercado restante é 99% de pequenos escritórios e autônomos, com carteiras menores. Isso muda o modelo de atendimento: menos EC por conta e mais escala, com inbound, franquia e automação.
Uma nota de método: usei só a base de mercado, tirando quem está como Cliente Ativo e quem já converteu, e essa mesma régua vale para todo o case. A coluna de conversão, porém, não bate com os contratos: 57 clientes ativos têm valor 0, 17 contadores nunca contatados têm valor 1, e 35 dos 303 endereçáveis já têm contrato ativo na tabela de contratos. Volto a esse tema de governança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 está o que sobra. Geografia: o Sudeste tem 156 dos 303 escritórios endereçáveis e 4,5 mil clientes finais, metade do mercado restante.
Perfil: os pequenos escritórios são 104 endereçáveis e concentram 59% da carteira restante; os autônomos são mais numerosos, mas com carteiras bem menores.
E um achado importante: a análise do Desafio 2 aponta um ICP simples de operar, escritório com 50 ou mais clientes, 6 ou mais funcionários e ERP de mercado. Dos 185 escritórios com esse perfil, só 24 ainda são endereçáveis: pela base de mercado, o perfil ideal já foi quase todo convertido. MT e MS, sem franquia, somam 15 endereçáveis. O próximo slide mostra por que essa leitura de conversão precisa ser validada.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Propensão à conversão. Fiz uma análise descritiva: para cada característica do contador, calculei a taxa de conversão de cada categoria. A característica que mais separa quem converte de quem não converte é a que tem maior diferença entre a melhor e a pior categoria. Em ordem: porte, nº de funcionários, nº de clientes da carteira, erp atual e anos de mercado. A propensão de cada contador é a média das taxas de conversão do perfil dele nessas cinco características: sem modelo e sem pesos. O score ordena bem: a faixa Alta, Média e Baixa convertem 91% · 29% · 3%; o top 30% converte 2,3 vezes a média e capta 69% dos convertidos.
O ponto mais importante está no gráfico: pela base, Médio e Grande convertem quase sempre e o Autônomo quase nunca. Mas no pipeline real o fechamento não segue esse padrão: o Autônomo fecha 67% e o Médio, 46%. E o top 30% do score fecha 60% no pipeline real, contra 65% nas demais faixas. Ou seja, a coluna de conversão mede potencial, não fechamento.
Previsibilidade: o pipeline aberto, ponderado pela chance de fechar de cada estágio, prevê 6,9 Ganhos no próximo trimestre; o run-rate histórico do CRM dá 8,1. Os dois métodos convergem. Os 133 leads parados há mais de 90 dias entram com zero. E um alerta: os Ganhos do CRM somam 0,9% do nMRR oficial, então dá para prever o pipeline, mas não a receita oficial sem uma fonte única.
Por isso trato o impacto da priorização como hipótese: +25% de nMRR no cenário base, cerca de R$ 31 mil por mês nas franquias abaixo da meta. Para saber se funciona, a métrica é simples: num piloto de 90 dias, o grupo que prioriza o topo do score fecha mais do que o grupo de controle?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Capacity. São 9 franquias abaixo da meta, com gap de R$ 19,5 mil por mês. A primeira hipótese seria execução, mas os dados não sustentam: as taxas do funil são praticamente iguais entre franquias e a correlação da etapa proposta → fechamento com o atingimento é de só 0,15. O gap está nas franquias pequenas: das 7 com 1 a 2 ECs, 6 estão abaixo da meta, e a correlação entre nº de ECs e atingimento é de 0,64. Não chamo isso de maturidade: a coluna meses_operando diz o mesmo, mas contradiz a data_inicio da própria tabela, e pela data de início a correlação é negativa (-0,37). É mais um ponto de governança.
A rede como um todo bate a meta; os R$ 19,5 mil são o gap das 9 franquias abaixo dela. Por região: Norte, Nordeste e Centro-Oeste estão abaixo da meta como região (74%, 82% e 89%); Sudeste e Sul batem a meta (107% e 108%) e o gap vem só do RJ, que tem o maior gap da rede, e do RS. O CE, por exemplo, tem a maior meta por EC da rede e realiza acima da média por EC: parte do gap é meta, não execução.
Sobre o EC adicional: usei só dados da base. O EC vai para onde há mais fechamentos potenciais por EC, que é a demanda do território por EC vezes a conversão do funil da própria franquia. A BA lidera: 12,5 endereçáveis por EC, contra 6,3 da rede, e conversão de 4,5%, contra 4,0% da rede (2ª em demanda e 3ª em conversão). E os ECs dela já são os mais carregados da rede: 18,7 leads trabalhados por mês, contra 16,5. A margem é pequena: 0,56 contra 0,50 fechamentos potenciais por EC da MG, que converte parecido (4,7%) e já está acima da meta. A diferença vem da demanda por EC. Os 27 endereçáveis de MT, MA, RO e MS não têm franquia nem histórico de execução, então não dá para avaliá-los com 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ações para o campo, em ordem de prioridade.
Primeira: fechar o que já está quente. São 15 contadores com lead ativo em reunião ou proposta, o único sinal real de compra que temos, independente de qualquer perfil. Junto com isso, limpar o pipeline: 56% dos leads abertos estão parados há mais de 90 dias, o dobro do ciclo médio de um ganho. Isso libera tempo de EC e torna a cobertura confiável.
Segunda: o piloto do tier Alta, a lista priorizada da pergunta C: carteira acima de 24 clientes com lead em andamento, ou de 15 a 24 com lead em reunião ou proposta. São 21 contadores; 8 já estão em negociação, então o piloto ataca os outros 13. Metade dos ECs ataca essa lista, a outra metade é o grupo de controle. Em 90 dias eu sei se o perfil gera receita de verdade.
Terceira: proposta → fechamento é a etapa de menor conversão, 19%, e o ES já fecha 23,7%. Se as 9 franquias abaixo da meta chegarem a esse nível, são R$ 26 mil a mais por mês, 135% do gap, sem contratar ninguém. Na BA isso não basta, por isso o EC adicional; no CE o gap é de meta, não de execução.
Embaixo estão as três decisões de gestão que sustentam isso: meta revista nas franquias pequenas, plano para o RJ e o EC adicional em 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fechar: como medir o sucesso em 90 dias. Proponho um único KPI norte, o atingimento de nMRR das 9 franquias que hoje estão abaixo da meta. Elas estão em 86% e a meta é chegar à meta delas, 100%: são R$ 19,5 mil a mais por mês, de R$ 124 mil para R$ 143,5 mil. E o plano sustenta esse número: só o playbook de proposta → fechamento, no nível que o ES já pratica, rende até R$ 26 mil por mês; a priorização pelo score é upside, que só conto depois do piloto. Acompanho tudo no painel de Power BI que montei sobre a mesma base do case.
Os quatro indicadores de suporte têm meta numérica, e toda meta vem da própria base: win rate do piloto de pelo menos 68,6%, o do Inbound, e acima do controle; proposta → fechamento de 19,3% para 23,7%, o nível do ES; pipeline parado de 56% para zero, porque nenhum Ganho fechou depois de 89 dias; e os 21 contadores do tier Alta em negociação.
E o pré-requisito, que é o que eu faria primeiro: hoje o nMRR do canal vale R$ 299 mil, R$ 17 mil ou R$ 3 mil por mês, dependendo da tabela que se consulta. Sem uma fonte única, não dá para medir o piloto, calibrar meta nem decidir headcount com segurança. É exatamente o papel da camada semântica de Parcerias.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lavi\OneDrive\Documentos\Omie_Antigravity\omie-case-contadores\deck\design_system\simbolo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4023360"/>
            <a:ext cx="4206240" cy="4206240"/>
          </a:xfrm>
          <a:prstGeom prst="rect">
            <a:avLst/>
          </a:prstGeom>
        </p:spPr>
      </p:pic>
      <p:pic>
        <p:nvPicPr>
          <p:cNvPr id="3" name="Image 1" descr="C:\Users\flavi\OneDrive\Documentos\Omie_Antigravity\omie-case-contadores\deck\design_system\logo_omie_cia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329184"/>
            <a:ext cx="1005840" cy="30918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B9D3D9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D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lavi\OneDrive\Documentos\Omie_Antigravity\omie-case-contadores\deck\design_system\logo_omie_e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329184"/>
            <a:ext cx="1005840" cy="30918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4E6B7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D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CASE TÉCNICO · REVENUE OPS · CANAL DE CONTADORES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51% do canal ainda está fora da Omie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 o que sobra são escritórios pequenos e autônomos</a:t>
            </a:r>
            <a:endParaRPr lang="en-US" sz="2800" dirty="0"/>
          </a:p>
        </p:txBody>
      </p:sp>
      <p:sp>
        <p:nvSpPr>
          <p:cNvPr id="4" name="Stat 1"/>
          <p:cNvSpPr/>
          <p:nvPr/>
        </p:nvSpPr>
        <p:spPr>
          <a:xfrm>
            <a:off x="548640" y="1920240"/>
            <a:ext cx="5029200" cy="1188720"/>
          </a:xfrm>
          <a:prstGeom prst="roundRect">
            <a:avLst>
              <a:gd name="adj" fmla="val 10769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5" name="Stat 1 número"/>
          <p:cNvSpPr txBox="1"/>
          <p:nvPr/>
        </p:nvSpPr>
        <p:spPr>
          <a:xfrm>
            <a:off x="777240" y="19202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49,5%</a:t>
            </a:r>
            <a:endParaRPr lang="en-US" sz="3600" dirty="0"/>
          </a:p>
        </p:txBody>
      </p:sp>
      <p:sp>
        <p:nvSpPr>
          <p:cNvPr id="6" name="Stat 1 rótulo"/>
          <p:cNvSpPr txBox="1"/>
          <p:nvPr/>
        </p:nvSpPr>
        <p:spPr>
          <a:xfrm>
            <a:off x="3063240" y="1920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penetração: 297 de 600 escritórios já são clientes ou já converteram</a:t>
            </a:r>
            <a:endParaRPr lang="en-US" sz="1400" dirty="0"/>
          </a:p>
        </p:txBody>
      </p:sp>
      <p:sp>
        <p:nvSpPr>
          <p:cNvPr id="7" name="Stat 2"/>
          <p:cNvSpPr/>
          <p:nvPr/>
        </p:nvSpPr>
        <p:spPr>
          <a:xfrm>
            <a:off x="548640" y="3291840"/>
            <a:ext cx="5029200" cy="1188720"/>
          </a:xfrm>
          <a:prstGeom prst="roundRect">
            <a:avLst>
              <a:gd name="adj" fmla="val 10769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8" name="Stat 2 número"/>
          <p:cNvSpPr txBox="1"/>
          <p:nvPr/>
        </p:nvSpPr>
        <p:spPr>
          <a:xfrm>
            <a:off x="777240" y="32918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303</a:t>
            </a:r>
            <a:endParaRPr lang="en-US" sz="3600" dirty="0"/>
          </a:p>
        </p:txBody>
      </p:sp>
      <p:sp>
        <p:nvSpPr>
          <p:cNvPr id="9" name="Stat 2 rótulo"/>
          <p:cNvSpPr txBox="1"/>
          <p:nvPr/>
        </p:nvSpPr>
        <p:spPr>
          <a:xfrm>
            <a:off x="3063240" y="32918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escritórios endereçáveis: nem clientes, nem convertidos (18 são ex-clientes)</a:t>
            </a:r>
            <a:endParaRPr lang="en-US" sz="1400" dirty="0"/>
          </a:p>
        </p:txBody>
      </p:sp>
      <p:sp>
        <p:nvSpPr>
          <p:cNvPr id="10" name="Stat 3"/>
          <p:cNvSpPr/>
          <p:nvPr/>
        </p:nvSpPr>
        <p:spPr>
          <a:xfrm>
            <a:off x="548640" y="4663440"/>
            <a:ext cx="5029200" cy="1188720"/>
          </a:xfrm>
          <a:prstGeom prst="roundRect">
            <a:avLst>
              <a:gd name="adj" fmla="val 10769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11" name="Stat 3 número"/>
          <p:cNvSpPr txBox="1"/>
          <p:nvPr/>
        </p:nvSpPr>
        <p:spPr>
          <a:xfrm>
            <a:off x="777240" y="466344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8,2 mil</a:t>
            </a:r>
            <a:endParaRPr lang="en-US" sz="3600" dirty="0"/>
          </a:p>
        </p:txBody>
      </p:sp>
      <p:sp>
        <p:nvSpPr>
          <p:cNvPr id="12" name="Stat 3 rótulo"/>
          <p:cNvSpPr txBox="1"/>
          <p:nvPr/>
        </p:nvSpPr>
        <p:spPr>
          <a:xfrm>
            <a:off x="3063240" y="46634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clientes finais nas carteiras desses escritórios: o que o contador pode indicar</a:t>
            </a:r>
            <a:endParaRPr lang="en-US" sz="1400" dirty="0"/>
          </a:p>
        </p:txBody>
      </p:sp>
      <p:graphicFrame>
        <p:nvGraphicFramePr>
          <p:cNvPr id="13" name="Gráfico carteira por porte" descr=""/>
          <p:cNvGraphicFramePr/>
          <p:nvPr/>
        </p:nvGraphicFramePr>
        <p:xfrm>
          <a:off x="5897880" y="1828800"/>
          <a:ext cx="5742432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Destaque porte"/>
          <p:cNvSpPr txBox="1"/>
          <p:nvPr/>
        </p:nvSpPr>
        <p:spPr>
          <a:xfrm>
            <a:off x="5897880" y="5577840"/>
            <a:ext cx="5742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Pequeno + Autônomo: 99% dos endereçáveis e 94% da carteira.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Médios e grandes já foram convertidos: só 3 seguem endereçáveis.</a:t>
            </a:r>
            <a:endParaRPr lang="en-US" sz="1400" dirty="0"/>
          </a:p>
        </p:txBody>
      </p:sp>
      <p:sp>
        <p:nvSpPr>
          <p:cNvPr id="15" name="Text 0"/>
          <p:cNvSpPr/>
          <p:nvPr>
            <p:ph idx="104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3D9"/>
                </a:solidFill>
              </a:rPr>
              <a:t>Fonte: mercado_contadores (endereçável = status_omie ≠ Cliente Ativo e converteu_omie = 0) · sql/sqlserver/desafio1a_mercado_enderecavel.sql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D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2 · ONDE ESTÁ O DINHEIRO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 que sobra: Sudeste e escritórios pequenos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e o perfil ideal (ICP) já foi quase todo convertido</a:t>
            </a:r>
            <a:endParaRPr lang="en-US" sz="2800" dirty="0"/>
          </a:p>
        </p:txBody>
      </p:sp>
      <p:graphicFrame>
        <p:nvGraphicFramePr>
          <p:cNvPr id="4" name="Gráfico carteira por região" descr=""/>
          <p:cNvGraphicFramePr/>
          <p:nvPr/>
        </p:nvGraphicFramePr>
        <p:xfrm>
          <a:off x="548640" y="1828800"/>
          <a:ext cx="594360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 1"/>
          <p:cNvSpPr/>
          <p:nvPr/>
        </p:nvSpPr>
        <p:spPr>
          <a:xfrm>
            <a:off x="6903720" y="1828800"/>
            <a:ext cx="4736592" cy="1325880"/>
          </a:xfrm>
          <a:prstGeom prst="roundRect">
            <a:avLst>
              <a:gd name="adj" fmla="val 9655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6" name="Card 1 número"/>
          <p:cNvSpPr txBox="1"/>
          <p:nvPr/>
        </p:nvSpPr>
        <p:spPr>
          <a:xfrm>
            <a:off x="7086600" y="182880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51%</a:t>
            </a:r>
            <a:endParaRPr lang="en-US" sz="3000" dirty="0"/>
          </a:p>
        </p:txBody>
      </p:sp>
      <p:sp>
        <p:nvSpPr>
          <p:cNvPr id="7" name="Card 1 texto"/>
          <p:cNvSpPr txBox="1"/>
          <p:nvPr/>
        </p:nvSpPr>
        <p:spPr>
          <a:xfrm>
            <a:off x="8503920" y="190195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Sudeste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156 escritórios endereçáveis e 4,5 mil clientes finais: metade do mercado restante.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6903720" y="3310128"/>
            <a:ext cx="4736592" cy="1325880"/>
          </a:xfrm>
          <a:prstGeom prst="roundRect">
            <a:avLst>
              <a:gd name="adj" fmla="val 9655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9" name="Card 2 número"/>
          <p:cNvSpPr txBox="1"/>
          <p:nvPr/>
        </p:nvSpPr>
        <p:spPr>
          <a:xfrm>
            <a:off x="7086600" y="3310128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59%</a:t>
            </a:r>
            <a:endParaRPr lang="en-US" sz="3000" dirty="0"/>
          </a:p>
        </p:txBody>
      </p:sp>
      <p:sp>
        <p:nvSpPr>
          <p:cNvPr id="10" name="Card 2 texto"/>
          <p:cNvSpPr txBox="1"/>
          <p:nvPr/>
        </p:nvSpPr>
        <p:spPr>
          <a:xfrm>
            <a:off x="8503920" y="33832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Pequenos escritórios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104 escritórios com 4,8 mil clientes finais: a maior fatia da carteira restante.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6903720" y="4791456"/>
            <a:ext cx="4736592" cy="1325880"/>
          </a:xfrm>
          <a:prstGeom prst="roundRect">
            <a:avLst>
              <a:gd name="adj" fmla="val 9655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12" name="Card 3 número"/>
          <p:cNvSpPr txBox="1"/>
          <p:nvPr/>
        </p:nvSpPr>
        <p:spPr>
          <a:xfrm>
            <a:off x="7086600" y="4791456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</a:t>
            </a:r>
            <a:endParaRPr lang="en-US" sz="3000" dirty="0"/>
          </a:p>
        </p:txBody>
      </p:sp>
      <p:sp>
        <p:nvSpPr>
          <p:cNvPr id="13" name="Card 3 texto"/>
          <p:cNvSpPr txBox="1"/>
          <p:nvPr/>
        </p:nvSpPr>
        <p:spPr>
          <a:xfrm>
            <a:off x="8503920" y="486460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Escritórios ICP endereçáveis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185 no mercado: o perfil ideal (50+ clientes, 6+ funcionários, ERP) já foi quase todo convertido.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Fonte: mercado_contadores (endereçável = não cliente e converteu_omie = 0; carteira = num_clientes_ativos) · ICP: Desafio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3 · PROPENSÃO À CONVERSÃO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Converte mais quem é maior, estruturado e usa ERP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mas o fechamento real ainda não confirma esse perfil</a:t>
            </a:r>
            <a:endParaRPr lang="en-US" sz="2800" dirty="0"/>
          </a:p>
        </p:txBody>
      </p:sp>
      <p:graphicFrame>
        <p:nvGraphicFramePr>
          <p:cNvPr id="4" name="Gráfico target x real por porte" descr=""/>
          <p:cNvGraphicFramePr/>
          <p:nvPr/>
        </p:nvGraphicFramePr>
        <p:xfrm>
          <a:off x="548640" y="182880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sumo ICP"/>
          <p:cNvSpPr txBox="1"/>
          <p:nvPr/>
        </p:nvSpPr>
        <p:spPr>
          <a:xfrm>
            <a:off x="548640" y="5577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Score de propensão: o top 30% converte 91% (2,3x a média)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E6B74"/>
                </a:solidFill>
              </a:rPr>
              <a:t>Média das taxas de conversão do perfil do contador nos 5 drivers · capta 69% dos convertidos</a:t>
            </a:r>
            <a:endParaRPr lang="en-US" sz="1400" dirty="0"/>
          </a:p>
        </p:txBody>
      </p:sp>
      <p:sp>
        <p:nvSpPr>
          <p:cNvPr id="6" name="Drivers título"/>
          <p:cNvSpPr txBox="1"/>
          <p:nvPr/>
        </p:nvSpPr>
        <p:spPr>
          <a:xfrm>
            <a:off x="598932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Top 5 drivers de conversão</a:t>
            </a:r>
            <a:endParaRPr lang="en-US" sz="1600" dirty="0"/>
          </a:p>
        </p:txBody>
      </p:sp>
      <p:sp>
        <p:nvSpPr>
          <p:cNvPr id="7" name="Driver 1"/>
          <p:cNvSpPr/>
          <p:nvPr/>
        </p:nvSpPr>
        <p:spPr>
          <a:xfrm>
            <a:off x="5989320" y="2386584"/>
            <a:ext cx="384048" cy="384048"/>
          </a:xfrm>
          <a:prstGeom prst="ellipse">
            <a:avLst/>
          </a:prstGeom>
          <a:solidFill>
            <a:srgbClr val="00E2F4"/>
          </a:solidFill>
          <a:ln w="12700">
            <a:solidFill>
              <a:srgbClr val="00E2F4"/>
            </a:solidFill>
            <a:prstDash val="solid"/>
          </a:ln>
        </p:spPr>
      </p:sp>
      <p:sp>
        <p:nvSpPr>
          <p:cNvPr id="8" name="Driver 1 texto"/>
          <p:cNvSpPr txBox="1"/>
          <p:nvPr/>
        </p:nvSpPr>
        <p:spPr>
          <a:xfrm>
            <a:off x="598932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E2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Driver 1 texto"/>
          <p:cNvSpPr txBox="1"/>
          <p:nvPr/>
        </p:nvSpPr>
        <p:spPr>
          <a:xfrm>
            <a:off x="6492240" y="23317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E6B74"/>
                </a:solidFill>
              </a:rPr>
              <a:t>93 p.p. entre categorias · Médio e Grande quase sempre</a:t>
            </a:r>
            <a:endParaRPr lang="en-US" sz="1400" dirty="0"/>
          </a:p>
        </p:txBody>
      </p:sp>
      <p:sp>
        <p:nvSpPr>
          <p:cNvPr id="10" name="Driver 2"/>
          <p:cNvSpPr/>
          <p:nvPr/>
        </p:nvSpPr>
        <p:spPr>
          <a:xfrm>
            <a:off x="5989320" y="3136392"/>
            <a:ext cx="384048" cy="384048"/>
          </a:xfrm>
          <a:prstGeom prst="ellipse">
            <a:avLst/>
          </a:prstGeom>
          <a:solidFill>
            <a:srgbClr val="00E2F4"/>
          </a:solidFill>
          <a:ln w="12700">
            <a:solidFill>
              <a:srgbClr val="00E2F4"/>
            </a:solidFill>
            <a:prstDash val="solid"/>
          </a:ln>
        </p:spPr>
      </p:sp>
      <p:sp>
        <p:nvSpPr>
          <p:cNvPr id="11" name="Driver 2 texto"/>
          <p:cNvSpPr txBox="1"/>
          <p:nvPr/>
        </p:nvSpPr>
        <p:spPr>
          <a:xfrm>
            <a:off x="598932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E2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Driver 2 texto"/>
          <p:cNvSpPr txBox="1"/>
          <p:nvPr/>
        </p:nvSpPr>
        <p:spPr>
          <a:xfrm>
            <a:off x="6492240" y="308152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Nº de funcionários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E6B74"/>
                </a:solidFill>
              </a:rPr>
              <a:t>89 p.p. entre categorias · estrutura para adotar software</a:t>
            </a:r>
            <a:endParaRPr lang="en-US" sz="1400" dirty="0"/>
          </a:p>
        </p:txBody>
      </p:sp>
      <p:sp>
        <p:nvSpPr>
          <p:cNvPr id="13" name="Driver 3"/>
          <p:cNvSpPr/>
          <p:nvPr/>
        </p:nvSpPr>
        <p:spPr>
          <a:xfrm>
            <a:off x="5989320" y="3886200"/>
            <a:ext cx="384048" cy="384048"/>
          </a:xfrm>
          <a:prstGeom prst="ellipse">
            <a:avLst/>
          </a:prstGeom>
          <a:solidFill>
            <a:srgbClr val="00E2F4"/>
          </a:solidFill>
          <a:ln w="12700">
            <a:solidFill>
              <a:srgbClr val="00E2F4"/>
            </a:solidFill>
            <a:prstDash val="solid"/>
          </a:ln>
        </p:spPr>
      </p:sp>
      <p:sp>
        <p:nvSpPr>
          <p:cNvPr id="14" name="Driver 3 texto"/>
          <p:cNvSpPr txBox="1"/>
          <p:nvPr/>
        </p:nvSpPr>
        <p:spPr>
          <a:xfrm>
            <a:off x="59893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E2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Driver 3 texto"/>
          <p:cNvSpPr txBox="1"/>
          <p:nvPr/>
        </p:nvSpPr>
        <p:spPr>
          <a:xfrm>
            <a:off x="6492240" y="3831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Nº de clientes da carteira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E6B74"/>
                </a:solidFill>
              </a:rPr>
              <a:t>88 p.p. entre categorias · é o Fit da priorização (1c)</a:t>
            </a:r>
            <a:endParaRPr lang="en-US" sz="1400" dirty="0"/>
          </a:p>
        </p:txBody>
      </p:sp>
      <p:sp>
        <p:nvSpPr>
          <p:cNvPr id="16" name="Driver 4"/>
          <p:cNvSpPr/>
          <p:nvPr/>
        </p:nvSpPr>
        <p:spPr>
          <a:xfrm>
            <a:off x="5989320" y="4636008"/>
            <a:ext cx="384048" cy="384048"/>
          </a:xfrm>
          <a:prstGeom prst="ellipse">
            <a:avLst/>
          </a:prstGeom>
          <a:solidFill>
            <a:srgbClr val="00E2F4"/>
          </a:solidFill>
          <a:ln w="12700">
            <a:solidFill>
              <a:srgbClr val="00E2F4"/>
            </a:solidFill>
            <a:prstDash val="solid"/>
          </a:ln>
        </p:spPr>
      </p:sp>
      <p:sp>
        <p:nvSpPr>
          <p:cNvPr id="17" name="Driver 4 texto"/>
          <p:cNvSpPr txBox="1"/>
          <p:nvPr/>
        </p:nvSpPr>
        <p:spPr>
          <a:xfrm>
            <a:off x="598932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E2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Driver 4 texto"/>
          <p:cNvSpPr txBox="1"/>
          <p:nvPr/>
        </p:nvSpPr>
        <p:spPr>
          <a:xfrm>
            <a:off x="6492240" y="45811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ERP atual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E6B74"/>
                </a:solidFill>
              </a:rPr>
              <a:t>59 p.p. entre categorias · planilha/nenhum convertem pouco</a:t>
            </a:r>
            <a:endParaRPr lang="en-US" sz="1400" dirty="0"/>
          </a:p>
        </p:txBody>
      </p:sp>
      <p:sp>
        <p:nvSpPr>
          <p:cNvPr id="19" name="Driver 5"/>
          <p:cNvSpPr/>
          <p:nvPr/>
        </p:nvSpPr>
        <p:spPr>
          <a:xfrm>
            <a:off x="5989320" y="5385816"/>
            <a:ext cx="384048" cy="384048"/>
          </a:xfrm>
          <a:prstGeom prst="ellipse">
            <a:avLst/>
          </a:prstGeom>
          <a:solidFill>
            <a:srgbClr val="00E2F4"/>
          </a:solidFill>
          <a:ln w="12700">
            <a:solidFill>
              <a:srgbClr val="00E2F4"/>
            </a:solidFill>
            <a:prstDash val="solid"/>
          </a:ln>
        </p:spPr>
      </p:sp>
      <p:sp>
        <p:nvSpPr>
          <p:cNvPr id="20" name="Driver 5 texto"/>
          <p:cNvSpPr txBox="1"/>
          <p:nvPr/>
        </p:nvSpPr>
        <p:spPr>
          <a:xfrm>
            <a:off x="598932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E2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Driver 5 texto"/>
          <p:cNvSpPr txBox="1"/>
          <p:nvPr/>
        </p:nvSpPr>
        <p:spPr>
          <a:xfrm>
            <a:off x="6492240" y="53309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Anos de mercado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E6B74"/>
                </a:solidFill>
              </a:rPr>
              <a:t>34 p.p. entre categorias · 16+ anos convertem 2x mais</a:t>
            </a:r>
            <a:endParaRPr lang="en-US" sz="1400" dirty="0"/>
          </a:p>
        </p:txBody>
      </p:sp>
      <p:sp>
        <p:nvSpPr>
          <p:cNvPr id="22" name="Alerta target"/>
          <p:cNvSpPr/>
          <p:nvPr/>
        </p:nvSpPr>
        <p:spPr>
          <a:xfrm>
            <a:off x="9006840" y="1828800"/>
            <a:ext cx="2633472" cy="2011680"/>
          </a:xfrm>
          <a:prstGeom prst="roundRect">
            <a:avLst>
              <a:gd name="adj" fmla="val 6364"/>
            </a:avLst>
          </a:prstGeom>
          <a:solidFill>
            <a:srgbClr val="FDE7E8"/>
          </a:solidFill>
          <a:ln w="12700">
            <a:solidFill>
              <a:srgbClr val="FDE7E8"/>
            </a:solidFill>
            <a:prstDash val="solid"/>
          </a:ln>
        </p:spPr>
      </p:sp>
      <p:sp>
        <p:nvSpPr>
          <p:cNvPr id="23" name="Alerta target texto"/>
          <p:cNvSpPr txBox="1"/>
          <p:nvPr/>
        </p:nvSpPr>
        <p:spPr>
          <a:xfrm>
            <a:off x="918972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Alerta de dados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Win rate real do top 30%: 60%, contra 65% nas demais faixas (30 leads). O score mede potencial; o perfil é hipótese a validar.</a:t>
            </a:r>
            <a:endParaRPr lang="en-US" sz="1400" dirty="0"/>
          </a:p>
        </p:txBody>
      </p:sp>
      <p:sp>
        <p:nvSpPr>
          <p:cNvPr id="24" name="Impacto"/>
          <p:cNvSpPr/>
          <p:nvPr/>
        </p:nvSpPr>
        <p:spPr>
          <a:xfrm>
            <a:off x="9006840" y="4023360"/>
            <a:ext cx="2633472" cy="2103120"/>
          </a:xfrm>
          <a:prstGeom prst="roundRect">
            <a:avLst>
              <a:gd name="adj" fmla="val 6087"/>
            </a:avLst>
          </a:prstGeom>
          <a:solidFill>
            <a:srgbClr val="001E27"/>
          </a:solidFill>
          <a:ln w="12700">
            <a:solidFill>
              <a:srgbClr val="001E27"/>
            </a:solidFill>
            <a:prstDash val="solid"/>
          </a:ln>
        </p:spPr>
      </p:sp>
      <p:sp>
        <p:nvSpPr>
          <p:cNvPr id="25" name="Impacto texto"/>
          <p:cNvSpPr txBox="1"/>
          <p:nvPr/>
        </p:nvSpPr>
        <p:spPr>
          <a:xfrm>
            <a:off x="9189720" y="40233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 a 8 Ganhos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previstos no próximo trimestre: pipeline ponderado e run-rate convergem. Priorizar o topo: +25%, se o piloto confirmar.</a:t>
            </a:r>
            <a:endParaRPr lang="en-US" sz="1400" dirty="0"/>
          </a:p>
        </p:txBody>
      </p:sp>
      <p:sp>
        <p:nvSpPr>
          <p:cNvPr id="26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Análise descritiva: taxa de conversão por característica (600 contadores) · Desafio2_Propensao.xlsx · Painel Omie (Power BI), págs. 2 a 4 (D2)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4 · CAPACITY &amp; FOCO DOS ECS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R$ 19,5 mil/mês de gap, concentrado nas franquias pequenas -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e o próximo EC vai para a BA</a:t>
            </a:r>
            <a:endParaRPr lang="en-US" sz="2800" dirty="0"/>
          </a:p>
        </p:txBody>
      </p:sp>
      <p:graphicFrame>
        <p:nvGraphicFramePr>
          <p:cNvPr id="4" name="Gráfico atingimento por franquia" descr=""/>
          <p:cNvGraphicFramePr/>
          <p:nvPr/>
        </p:nvGraphicFramePr>
        <p:xfrm>
          <a:off x="548640" y="1783080"/>
          <a:ext cx="5212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orrelação 1"/>
          <p:cNvSpPr/>
          <p:nvPr/>
        </p:nvSpPr>
        <p:spPr>
          <a:xfrm>
            <a:off x="6172200" y="1783080"/>
            <a:ext cx="2688336" cy="960120"/>
          </a:xfrm>
          <a:prstGeom prst="roundRect">
            <a:avLst>
              <a:gd name="adj" fmla="val 13333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6" name="Correlação 1 número"/>
          <p:cNvSpPr txBox="1"/>
          <p:nvPr/>
        </p:nvSpPr>
        <p:spPr>
          <a:xfrm>
            <a:off x="6309360" y="17830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0,64</a:t>
            </a:r>
            <a:endParaRPr lang="en-US" sz="2600" dirty="0"/>
          </a:p>
        </p:txBody>
      </p:sp>
      <p:sp>
        <p:nvSpPr>
          <p:cNvPr id="7" name="Correlação 1 rótulo"/>
          <p:cNvSpPr txBox="1"/>
          <p:nvPr/>
        </p:nvSpPr>
        <p:spPr>
          <a:xfrm>
            <a:off x="7223760" y="178308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Correlação: Tamanho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nº de ECs × atingimento</a:t>
            </a:r>
            <a:endParaRPr lang="en-US" sz="1200" dirty="0"/>
          </a:p>
        </p:txBody>
      </p:sp>
      <p:sp>
        <p:nvSpPr>
          <p:cNvPr id="8" name="Correlação 2"/>
          <p:cNvSpPr/>
          <p:nvPr/>
        </p:nvSpPr>
        <p:spPr>
          <a:xfrm>
            <a:off x="8951976" y="1783080"/>
            <a:ext cx="2688336" cy="960120"/>
          </a:xfrm>
          <a:prstGeom prst="roundRect">
            <a:avLst>
              <a:gd name="adj" fmla="val 13333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9" name="Correlação 2 número"/>
          <p:cNvSpPr txBox="1"/>
          <p:nvPr/>
        </p:nvSpPr>
        <p:spPr>
          <a:xfrm>
            <a:off x="9089136" y="17830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E6B7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0,15</a:t>
            </a:r>
            <a:endParaRPr lang="en-US" sz="2600" dirty="0"/>
          </a:p>
        </p:txBody>
      </p:sp>
      <p:sp>
        <p:nvSpPr>
          <p:cNvPr id="10" name="Correlação 2 rótulo"/>
          <p:cNvSpPr txBox="1"/>
          <p:nvPr/>
        </p:nvSpPr>
        <p:spPr>
          <a:xfrm>
            <a:off x="10003536" y="178308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Correlação: Funil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proposta → fechamento × atingimento</a:t>
            </a:r>
            <a:endParaRPr lang="en-US" sz="1200" dirty="0"/>
          </a:p>
        </p:txBody>
      </p:sp>
      <p:sp>
        <p:nvSpPr>
          <p:cNvPr id="11" name="Diagnóstico 1"/>
          <p:cNvSpPr/>
          <p:nvPr/>
        </p:nvSpPr>
        <p:spPr>
          <a:xfrm>
            <a:off x="6172200" y="2962656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F0505A"/>
          </a:solidFill>
          <a:ln w="15875">
            <a:solidFill>
              <a:srgbClr val="F0505A"/>
            </a:solidFill>
            <a:prstDash val="solid"/>
          </a:ln>
        </p:spPr>
      </p:sp>
      <p:sp>
        <p:nvSpPr>
          <p:cNvPr id="12" name="Diagnóstico 1 texto"/>
          <p:cNvSpPr txBox="1"/>
          <p:nvPr/>
        </p:nvSpPr>
        <p:spPr>
          <a:xfrm>
            <a:off x="6172200" y="29626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R$ 6,5 mil</a:t>
            </a:r>
            <a:endParaRPr lang="en-US" sz="1400" dirty="0"/>
          </a:p>
        </p:txBody>
      </p:sp>
      <p:sp>
        <p:nvSpPr>
          <p:cNvPr id="13" name="Diagnóstico 1 texto"/>
          <p:cNvSpPr txBox="1"/>
          <p:nvPr/>
        </p:nvSpPr>
        <p:spPr>
          <a:xfrm>
            <a:off x="7635240" y="2926080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Nordeste: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região a 82% da meta; BA, PE, CE abaixo, com 1 a 2 ECs</a:t>
            </a:r>
            <a:endParaRPr lang="en-US" sz="1300" dirty="0"/>
          </a:p>
        </p:txBody>
      </p:sp>
      <p:sp>
        <p:nvSpPr>
          <p:cNvPr id="14" name="Diagnóstico 2"/>
          <p:cNvSpPr/>
          <p:nvPr/>
        </p:nvSpPr>
        <p:spPr>
          <a:xfrm>
            <a:off x="6172200" y="3621024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15" name="Diagnóstico 2 texto"/>
          <p:cNvSpPr txBox="1"/>
          <p:nvPr/>
        </p:nvSpPr>
        <p:spPr>
          <a:xfrm>
            <a:off x="6172200" y="362102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E27"/>
                </a:solidFill>
              </a:rPr>
              <a:t>R$ 8 mil</a:t>
            </a:r>
            <a:endParaRPr lang="en-US" sz="1400" dirty="0"/>
          </a:p>
        </p:txBody>
      </p:sp>
      <p:sp>
        <p:nvSpPr>
          <p:cNvPr id="16" name="Diagnóstico 2 texto"/>
          <p:cNvSpPr txBox="1"/>
          <p:nvPr/>
        </p:nvSpPr>
        <p:spPr>
          <a:xfrm>
            <a:off x="7635240" y="3584448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Norte e Centro-Oeste: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regiões a 74% e 89% da meta</a:t>
            </a:r>
            <a:endParaRPr lang="en-US" sz="1300" dirty="0"/>
          </a:p>
        </p:txBody>
      </p:sp>
      <p:sp>
        <p:nvSpPr>
          <p:cNvPr id="17" name="Diagnóstico 3"/>
          <p:cNvSpPr/>
          <p:nvPr/>
        </p:nvSpPr>
        <p:spPr>
          <a:xfrm>
            <a:off x="6172200" y="4279392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4E6B74"/>
          </a:solidFill>
          <a:ln w="15875">
            <a:solidFill>
              <a:srgbClr val="4E6B74"/>
            </a:solidFill>
            <a:prstDash val="solid"/>
          </a:ln>
        </p:spPr>
      </p:sp>
      <p:sp>
        <p:nvSpPr>
          <p:cNvPr id="18" name="Diagnóstico 3 texto"/>
          <p:cNvSpPr txBox="1"/>
          <p:nvPr/>
        </p:nvSpPr>
        <p:spPr>
          <a:xfrm>
            <a:off x="6172200" y="42793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R$ 5 mil</a:t>
            </a:r>
            <a:endParaRPr lang="en-US" sz="1400" dirty="0"/>
          </a:p>
        </p:txBody>
      </p:sp>
      <p:sp>
        <p:nvSpPr>
          <p:cNvPr id="19" name="Diagnóstico 3 texto"/>
          <p:cNvSpPr txBox="1"/>
          <p:nvPr/>
        </p:nvSpPr>
        <p:spPr>
          <a:xfrm>
            <a:off x="7635240" y="4242816"/>
            <a:ext cx="4005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Sudeste e Sul: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batem a meta (107% e 108%); gap só no RJ e no RS</a:t>
            </a:r>
            <a:endParaRPr lang="en-US" sz="1300" dirty="0"/>
          </a:p>
        </p:txBody>
      </p:sp>
      <p:sp>
        <p:nvSpPr>
          <p:cNvPr id="20" name="EC adicional"/>
          <p:cNvSpPr/>
          <p:nvPr/>
        </p:nvSpPr>
        <p:spPr>
          <a:xfrm>
            <a:off x="6172200" y="4956048"/>
            <a:ext cx="5468112" cy="1307592"/>
          </a:xfrm>
          <a:prstGeom prst="roundRect">
            <a:avLst>
              <a:gd name="adj" fmla="val 9790"/>
            </a:avLst>
          </a:prstGeom>
          <a:solidFill>
            <a:srgbClr val="001E27"/>
          </a:solidFill>
          <a:ln w="12700">
            <a:solidFill>
              <a:srgbClr val="001E27"/>
            </a:solidFill>
            <a:prstDash val="solid"/>
          </a:ln>
        </p:spPr>
      </p:sp>
      <p:sp>
        <p:nvSpPr>
          <p:cNvPr id="21" name="EC adicional texto"/>
          <p:cNvSpPr txBox="1"/>
          <p:nvPr/>
        </p:nvSpPr>
        <p:spPr>
          <a:xfrm>
            <a:off x="6355080" y="5001768"/>
            <a:ext cx="5120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 EC na BA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Mais fechamentos potenciais por EC: 12,5 endereçáveis por EC (rede: 6,3), conversão de 4,5% (rede: 4,0%) e os ECs mais carregados (18,7 leads/mês; rede: 16,5). 2ª opção, por pouco: MG.</a:t>
            </a:r>
            <a:endParaRPr lang="en-US" sz="1300" dirty="0"/>
          </a:p>
        </p:txBody>
      </p:sp>
      <p:sp>
        <p:nvSpPr>
          <p:cNvPr id="22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Meta e realizado: tabela franquias (oficial) · funil: execucao_comercial 2024 · Desafio3_Capacity.xlsx · Painel Omie (Power BI), págs. 5 a 7 (D3)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5 · AÇÕES IMEDIATAS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Três ações imediatas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para o time de campo</a:t>
            </a:r>
            <a:endParaRPr lang="en-US" sz="2800" dirty="0"/>
          </a:p>
        </p:txBody>
      </p:sp>
      <p:sp>
        <p:nvSpPr>
          <p:cNvPr id="4" name="Ação 1"/>
          <p:cNvSpPr/>
          <p:nvPr/>
        </p:nvSpPr>
        <p:spPr>
          <a:xfrm>
            <a:off x="548640" y="1783080"/>
            <a:ext cx="3547872" cy="3657600"/>
          </a:xfrm>
          <a:prstGeom prst="roundRect">
            <a:avLst>
              <a:gd name="adj" fmla="val 3608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5" name="Ação 1 número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0E2F4"/>
          </a:solidFill>
          <a:ln w="12700">
            <a:solidFill>
              <a:srgbClr val="00E2F4"/>
            </a:solidFill>
            <a:prstDash val="solid"/>
          </a:ln>
        </p:spPr>
      </p:sp>
      <p:sp>
        <p:nvSpPr>
          <p:cNvPr id="6" name="Ação 1 número texto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E2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Ação 1 título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Fechar o que já está quente</a:t>
            </a:r>
            <a:endParaRPr lang="en-US" sz="1800" dirty="0"/>
          </a:p>
        </p:txBody>
      </p:sp>
      <p:sp>
        <p:nvSpPr>
          <p:cNvPr id="8" name="Ação 1 texto"/>
          <p:cNvSpPr txBox="1"/>
          <p:nvPr/>
        </p:nvSpPr>
        <p:spPr>
          <a:xfrm>
            <a:off x="822960" y="34747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3D9"/>
                </a:solidFill>
              </a:rPr>
              <a:t>15 contadores com lead ativo em Reunião ou Proposta: fechar antes dos 90 dias (nenhum Ganho da base passou de 89). Requalificar ou encerrar os parados de outros 54.</a:t>
            </a:r>
            <a:endParaRPr lang="en-US" sz="1400" dirty="0"/>
          </a:p>
        </p:txBody>
      </p:sp>
      <p:sp>
        <p:nvSpPr>
          <p:cNvPr id="9" name="Ação 1 impacto"/>
          <p:cNvSpPr txBox="1"/>
          <p:nvPr/>
        </p:nvSpPr>
        <p:spPr>
          <a:xfrm>
            <a:off x="822960" y="4754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Hoje, 56% do pipeline aberto está parado há mais de 90 dias</a:t>
            </a:r>
            <a:endParaRPr lang="en-US" sz="1400" dirty="0"/>
          </a:p>
        </p:txBody>
      </p:sp>
      <p:sp>
        <p:nvSpPr>
          <p:cNvPr id="10" name="Ação 2"/>
          <p:cNvSpPr/>
          <p:nvPr/>
        </p:nvSpPr>
        <p:spPr>
          <a:xfrm>
            <a:off x="4325112" y="1783080"/>
            <a:ext cx="3547872" cy="3657600"/>
          </a:xfrm>
          <a:prstGeom prst="roundRect">
            <a:avLst>
              <a:gd name="adj" fmla="val 3608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11" name="Ação 2 número"/>
          <p:cNvSpPr/>
          <p:nvPr/>
        </p:nvSpPr>
        <p:spPr>
          <a:xfrm>
            <a:off x="4599432" y="2011680"/>
            <a:ext cx="502920" cy="502920"/>
          </a:xfrm>
          <a:prstGeom prst="ellipse">
            <a:avLst/>
          </a:prstGeom>
          <a:solidFill>
            <a:srgbClr val="00E2F4"/>
          </a:solidFill>
          <a:ln w="12700">
            <a:solidFill>
              <a:srgbClr val="00E2F4"/>
            </a:solidFill>
            <a:prstDash val="solid"/>
          </a:ln>
        </p:spPr>
      </p:sp>
      <p:sp>
        <p:nvSpPr>
          <p:cNvPr id="12" name="Ação 2 número texto"/>
          <p:cNvSpPr txBox="1"/>
          <p:nvPr/>
        </p:nvSpPr>
        <p:spPr>
          <a:xfrm>
            <a:off x="45994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E2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Ação 2 título"/>
          <p:cNvSpPr txBox="1"/>
          <p:nvPr/>
        </p:nvSpPr>
        <p:spPr>
          <a:xfrm>
            <a:off x="4599432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Piloto do tier Alta com grupo de controle</a:t>
            </a:r>
            <a:endParaRPr lang="en-US" sz="1800" dirty="0"/>
          </a:p>
        </p:txBody>
      </p:sp>
      <p:sp>
        <p:nvSpPr>
          <p:cNvPr id="14" name="Ação 2 texto"/>
          <p:cNvSpPr txBox="1"/>
          <p:nvPr/>
        </p:nvSpPr>
        <p:spPr>
          <a:xfrm>
            <a:off x="4599432" y="34747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3D9"/>
                </a:solidFill>
              </a:rPr>
              <a:t>13 contadores do tier Alta ainda fora de negociação (os outros 8 já estão na ação 1). Metade dos ECs prioriza essa lista por 90 dias; a outra metade segue o processo atual.</a:t>
            </a:r>
            <a:endParaRPr lang="en-US" sz="1400" dirty="0"/>
          </a:p>
        </p:txBody>
      </p:sp>
      <p:sp>
        <p:nvSpPr>
          <p:cNvPr id="15" name="Ação 2 impacto"/>
          <p:cNvSpPr txBox="1"/>
          <p:nvPr/>
        </p:nvSpPr>
        <p:spPr>
          <a:xfrm>
            <a:off x="4599432" y="4754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Potencial de +25% de nMRR, a ser provado</a:t>
            </a:r>
            <a:endParaRPr lang="en-US" sz="1400" dirty="0"/>
          </a:p>
        </p:txBody>
      </p:sp>
      <p:sp>
        <p:nvSpPr>
          <p:cNvPr id="16" name="Ação 3"/>
          <p:cNvSpPr/>
          <p:nvPr/>
        </p:nvSpPr>
        <p:spPr>
          <a:xfrm>
            <a:off x="8101584" y="1783080"/>
            <a:ext cx="3547872" cy="3657600"/>
          </a:xfrm>
          <a:prstGeom prst="roundRect">
            <a:avLst>
              <a:gd name="adj" fmla="val 3608"/>
            </a:avLst>
          </a:prstGeom>
          <a:solidFill>
            <a:srgbClr val="0B3440"/>
          </a:solidFill>
          <a:ln w="12700">
            <a:solidFill>
              <a:srgbClr val="0B3440"/>
            </a:solidFill>
            <a:prstDash val="solid"/>
          </a:ln>
        </p:spPr>
      </p:sp>
      <p:sp>
        <p:nvSpPr>
          <p:cNvPr id="17" name="Ação 3 número"/>
          <p:cNvSpPr/>
          <p:nvPr/>
        </p:nvSpPr>
        <p:spPr>
          <a:xfrm>
            <a:off x="8375904" y="2011680"/>
            <a:ext cx="502920" cy="502920"/>
          </a:xfrm>
          <a:prstGeom prst="ellipse">
            <a:avLst/>
          </a:prstGeom>
          <a:solidFill>
            <a:srgbClr val="00E2F4"/>
          </a:solidFill>
          <a:ln w="12700">
            <a:solidFill>
              <a:srgbClr val="00E2F4"/>
            </a:solidFill>
            <a:prstDash val="solid"/>
          </a:ln>
        </p:spPr>
      </p:sp>
      <p:sp>
        <p:nvSpPr>
          <p:cNvPr id="18" name="Ação 3 número texto"/>
          <p:cNvSpPr txBox="1"/>
          <p:nvPr/>
        </p:nvSpPr>
        <p:spPr>
          <a:xfrm>
            <a:off x="837590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1E27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Ação 3 título"/>
          <p:cNvSpPr txBox="1"/>
          <p:nvPr/>
        </p:nvSpPr>
        <p:spPr>
          <a:xfrm>
            <a:off x="8375904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Playbook de proposta → fechamento</a:t>
            </a:r>
            <a:endParaRPr lang="en-US" sz="1800" dirty="0"/>
          </a:p>
        </p:txBody>
      </p:sp>
      <p:sp>
        <p:nvSpPr>
          <p:cNvPr id="20" name="Ação 3 texto"/>
          <p:cNvSpPr txBox="1"/>
          <p:nvPr/>
        </p:nvSpPr>
        <p:spPr>
          <a:xfrm>
            <a:off x="8375904" y="34747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9D3D9"/>
                </a:solidFill>
              </a:rPr>
              <a:t>É a etapa de menor conversão (19%). Proposta padrão por porte, decisor mapeado e follow-up.</a:t>
            </a:r>
            <a:endParaRPr lang="en-US" sz="1400" dirty="0"/>
          </a:p>
        </p:txBody>
      </p:sp>
      <p:sp>
        <p:nvSpPr>
          <p:cNvPr id="21" name="Ação 3 impacto"/>
          <p:cNvSpPr txBox="1"/>
          <p:nvPr/>
        </p:nvSpPr>
        <p:spPr>
          <a:xfrm>
            <a:off x="8375904" y="4754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 nível do ES (23,7%): +R$ 26 mil/mês nas 9 franquias</a:t>
            </a:r>
            <a:endParaRPr lang="en-US" sz="1400" dirty="0"/>
          </a:p>
        </p:txBody>
      </p:sp>
      <p:sp>
        <p:nvSpPr>
          <p:cNvPr id="22" name="Decisões de gestão rótulo"/>
          <p:cNvSpPr txBox="1"/>
          <p:nvPr/>
        </p:nvSpPr>
        <p:spPr>
          <a:xfrm>
            <a:off x="548640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Decisões de gestão:</a:t>
            </a:r>
            <a:endParaRPr lang="en-US" sz="1400" dirty="0"/>
          </a:p>
        </p:txBody>
      </p:sp>
      <p:sp>
        <p:nvSpPr>
          <p:cNvPr id="23" name="Decisão 1"/>
          <p:cNvSpPr/>
          <p:nvPr/>
        </p:nvSpPr>
        <p:spPr>
          <a:xfrm>
            <a:off x="2423160" y="5669280"/>
            <a:ext cx="2743200" cy="411480"/>
          </a:xfrm>
          <a:prstGeom prst="roundRect">
            <a:avLst>
              <a:gd name="adj" fmla="val 50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4" name="Decisão 1 texto"/>
          <p:cNvSpPr txBox="1"/>
          <p:nvPr/>
        </p:nvSpPr>
        <p:spPr>
          <a:xfrm>
            <a:off x="2423160" y="5669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Metas das franquias pequenas</a:t>
            </a:r>
            <a:endParaRPr lang="en-US" sz="1200" dirty="0"/>
          </a:p>
        </p:txBody>
      </p:sp>
      <p:sp>
        <p:nvSpPr>
          <p:cNvPr id="25" name="Decisão 2"/>
          <p:cNvSpPr/>
          <p:nvPr/>
        </p:nvSpPr>
        <p:spPr>
          <a:xfrm>
            <a:off x="5349240" y="5669280"/>
            <a:ext cx="2743200" cy="411480"/>
          </a:xfrm>
          <a:prstGeom prst="roundRect">
            <a:avLst>
              <a:gd name="adj" fmla="val 50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6" name="Decisão 2 texto"/>
          <p:cNvSpPr txBox="1"/>
          <p:nvPr/>
        </p:nvSpPr>
        <p:spPr>
          <a:xfrm>
            <a:off x="5349240" y="5669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Plano de ação no RJ</a:t>
            </a:r>
            <a:endParaRPr lang="en-US" sz="1200" dirty="0"/>
          </a:p>
        </p:txBody>
      </p:sp>
      <p:sp>
        <p:nvSpPr>
          <p:cNvPr id="27" name="Decisão 3"/>
          <p:cNvSpPr/>
          <p:nvPr/>
        </p:nvSpPr>
        <p:spPr>
          <a:xfrm>
            <a:off x="8275320" y="5669280"/>
            <a:ext cx="2743200" cy="411480"/>
          </a:xfrm>
          <a:prstGeom prst="roundRect">
            <a:avLst>
              <a:gd name="adj" fmla="val 50000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28" name="Decisão 3 texto"/>
          <p:cNvSpPr txBox="1"/>
          <p:nvPr/>
        </p:nvSpPr>
        <p:spPr>
          <a:xfrm>
            <a:off x="8275320" y="5669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+1 EC na BA</a:t>
            </a:r>
            <a:endParaRPr lang="en-US" sz="1200" dirty="0"/>
          </a:p>
        </p:txBody>
      </p:sp>
      <p:sp>
        <p:nvSpPr>
          <p:cNvPr id="29" name="Text 0"/>
          <p:cNvSpPr/>
          <p:nvPr>
            <p:ph idx="104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D3D9"/>
                </a:solidFill>
              </a:rPr>
              <a:t>Lista priorizada por franquia: Desafio3_Capacity.xlsx (Priorizacao e Ondas_Capacidade) · Painel Omie (Power BI), págs. 6 e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D3D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65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6 · KPI DE 90 DIAS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73152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KPI norte em 90 dias: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levar as 9 franquias abaixo da meta à meta</a:t>
            </a:r>
            <a:endParaRPr lang="en-US" sz="2800" dirty="0"/>
          </a:p>
        </p:txBody>
      </p:sp>
      <p:sp>
        <p:nvSpPr>
          <p:cNvPr id="4" name="KPI norte"/>
          <p:cNvSpPr/>
          <p:nvPr/>
        </p:nvSpPr>
        <p:spPr>
          <a:xfrm>
            <a:off x="548640" y="1783080"/>
            <a:ext cx="3749040" cy="4343400"/>
          </a:xfrm>
          <a:prstGeom prst="roundRect">
            <a:avLst>
              <a:gd name="adj" fmla="val 3415"/>
            </a:avLst>
          </a:prstGeom>
          <a:solidFill>
            <a:srgbClr val="001E27"/>
          </a:solidFill>
          <a:ln w="12700">
            <a:solidFill>
              <a:srgbClr val="001E27"/>
            </a:solidFill>
            <a:prstDash val="solid"/>
          </a:ln>
        </p:spPr>
      </p:sp>
      <p:sp>
        <p:nvSpPr>
          <p:cNvPr id="5" name="KPI norte texto"/>
          <p:cNvSpPr txBox="1"/>
          <p:nvPr/>
        </p:nvSpPr>
        <p:spPr>
          <a:xfrm>
            <a:off x="822960" y="19659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KPI NORTE</a:t>
            </a:r>
            <a:endParaRPr lang="en-US" sz="12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86% → 100%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B9D3D9"/>
                </a:solidFill>
              </a:rPr>
              <a:t>atingimento de nMRR das 9 franquias abaixo da meta (R$ 124 mil de R$ 143,5 mil por mês)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Receita do plano: +R$ 19,5 mil/mês.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Só o playbook de fechamento rende até +R$ 26 mil/mês.</a:t>
            </a:r>
            <a:endParaRPr lang="en-US" sz="1200" dirty="0"/>
          </a:p>
        </p:txBody>
      </p:sp>
      <p:sp>
        <p:nvSpPr>
          <p:cNvPr id="6" name="Progresso fundo"/>
          <p:cNvSpPr/>
          <p:nvPr/>
        </p:nvSpPr>
        <p:spPr>
          <a:xfrm>
            <a:off x="822960" y="5029200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0535E"/>
          </a:solidFill>
          <a:ln w="12700">
            <a:solidFill>
              <a:srgbClr val="00535E"/>
            </a:solidFill>
            <a:prstDash val="solid"/>
          </a:ln>
        </p:spPr>
      </p:sp>
      <p:sp>
        <p:nvSpPr>
          <p:cNvPr id="7" name="Progresso atual"/>
          <p:cNvSpPr/>
          <p:nvPr/>
        </p:nvSpPr>
        <p:spPr>
          <a:xfrm>
            <a:off x="822960" y="5029200"/>
            <a:ext cx="2765502" cy="274320"/>
          </a:xfrm>
          <a:prstGeom prst="roundRect">
            <a:avLst>
              <a:gd name="adj" fmla="val 50000"/>
            </a:avLst>
          </a:prstGeom>
          <a:solidFill>
            <a:srgbClr val="00E2F4"/>
          </a:solidFill>
          <a:ln w="12700">
            <a:solidFill>
              <a:srgbClr val="00E2F4"/>
            </a:solidFill>
            <a:prstDash val="solid"/>
          </a:ln>
        </p:spPr>
      </p:sp>
      <p:sp>
        <p:nvSpPr>
          <p:cNvPr id="8" name="Marcador meta"/>
          <p:cNvSpPr/>
          <p:nvPr/>
        </p:nvSpPr>
        <p:spPr>
          <a:xfrm>
            <a:off x="3986784" y="4937760"/>
            <a:ext cx="36576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Progresso rótulo atual"/>
          <p:cNvSpPr txBox="1"/>
          <p:nvPr/>
        </p:nvSpPr>
        <p:spPr>
          <a:xfrm>
            <a:off x="822960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hoje 86%</a:t>
            </a:r>
            <a:endParaRPr lang="en-US" sz="1200" dirty="0"/>
          </a:p>
        </p:txBody>
      </p:sp>
      <p:sp>
        <p:nvSpPr>
          <p:cNvPr id="10" name="Progresso rótulo alvo"/>
          <p:cNvSpPr txBox="1"/>
          <p:nvPr/>
        </p:nvSpPr>
        <p:spPr>
          <a:xfrm>
            <a:off x="2560320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meta 100%</a:t>
            </a:r>
            <a:endParaRPr lang="en-US" sz="1200" dirty="0"/>
          </a:p>
        </p:txBody>
      </p:sp>
      <p:graphicFrame>
        <p:nvGraphicFramePr>
          <p:cNvPr id="7" name="Tabela KPIs de supor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783080"/>
          <a:ext cx="706831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051560"/>
                <a:gridCol w="1600200"/>
                <a:gridCol w="20848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de suporte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90 dias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onde vem a meta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 do tier Alta (piloto)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 (rede)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68,6% e acima do controle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Inbound: melhor canal com 30+ leads encerrados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Conversão proposta → fechamento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ES: melhor franquia da rede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abertos parados há +90 dias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Ganho fechou depois de 89 dias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Alta com lead em Reunião/Proposta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de 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de 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1E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total do tier 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Governança"/>
          <p:cNvSpPr/>
          <p:nvPr/>
        </p:nvSpPr>
        <p:spPr>
          <a:xfrm>
            <a:off x="4572000" y="4480560"/>
            <a:ext cx="7068312" cy="1645920"/>
          </a:xfrm>
          <a:prstGeom prst="roundRect">
            <a:avLst>
              <a:gd name="adj" fmla="val 7778"/>
            </a:avLst>
          </a:prstGeom>
          <a:solidFill>
            <a:srgbClr val="EAF8FA"/>
          </a:solidFill>
          <a:ln w="12700">
            <a:solidFill>
              <a:srgbClr val="EAF8FA"/>
            </a:solidFill>
            <a:prstDash val="solid"/>
          </a:ln>
        </p:spPr>
      </p:sp>
      <p:sp>
        <p:nvSpPr>
          <p:cNvPr id="13" name="Governança texto"/>
          <p:cNvSpPr txBox="1"/>
          <p:nvPr/>
        </p:nvSpPr>
        <p:spPr>
          <a:xfrm>
            <a:off x="4800600" y="45720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Pré-requisito: uma fonte única de nMRR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Hoje o mesmo KPI vale R$ 299 mil, R$ 17 mil ou R$ 3 mil por mês, conforme a tabela (franquias, execução ou CRM).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Junto: ID único de EC no CRM e definição canônica de conversão, para que o piloto meça a mesma coisa em todas as franquias.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3" type="body" hasCustomPrompt="1"/>
          </p:nvPr>
        </p:nvSpPr>
        <p:spPr>
          <a:xfrm>
            <a:off x="548640" y="6355080"/>
            <a:ext cx="10180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6B74"/>
                </a:solidFill>
              </a:rPr>
              <a:t>Hoje: franquias, leads_pipeline e Desafio 3 · metas: referências da própria base · receita: Desafio3_Capacity.xlsx (Simulador_Funil)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E6B7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ie Design System">
  <a:themeElements>
    <a:clrScheme name="Omie Design System">
      <a:dk1>
        <a:srgbClr val="001E27"/>
      </a:dk1>
      <a:lt1>
        <a:srgbClr val="FFFFFF"/>
      </a:lt1>
      <a:dk2>
        <a:srgbClr val="00535E"/>
      </a:dk2>
      <a:lt2>
        <a:srgbClr val="EAF8FA"/>
      </a:lt2>
      <a:accent1>
        <a:srgbClr val="00E2F4"/>
      </a:accent1>
      <a:accent2>
        <a:srgbClr val="006B79"/>
      </a:accent2>
      <a:accent3>
        <a:srgbClr val="F0505A"/>
      </a:accent3>
      <a:accent4>
        <a:srgbClr val="0B3440"/>
      </a:accent4>
      <a:accent5>
        <a:srgbClr val="72E4F5"/>
      </a:accent5>
      <a:accent6>
        <a:srgbClr val="FFB547"/>
      </a:accent6>
      <a:hlink>
        <a:srgbClr val="006B79"/>
      </a:hlink>
      <a:folHlink>
        <a:srgbClr val="00535E"/>
      </a:folHlink>
    </a:clrScheme>
    <a:fontScheme name="Omie Design System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Canal de Contadores - oportunidade, perfil de conversão e plano de 90 dias</dc:title>
  <dc:subject>Case técnico - Analista de Revenue Ops Sênior</dc:subject>
  <dc:creator>PptxGenJS</dc:creator>
  <cp:lastModifiedBy>PptxGenJS</cp:lastModifiedBy>
  <cp:revision>1</cp:revision>
  <dcterms:created xsi:type="dcterms:W3CDTF">2026-10-19T16:15:24Z</dcterms:created>
  <dcterms:modified xsi:type="dcterms:W3CDTF">2026-10-19T16:15:24Z</dcterms:modified>
</cp:coreProperties>
</file>