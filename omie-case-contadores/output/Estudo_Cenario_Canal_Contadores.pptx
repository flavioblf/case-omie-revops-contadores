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Contadores por status_omie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Contadores por status_omie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Prospect</c:v>
                  </c:pt>
                  <c:pt idx="1">
                    <c:v>Lead Frio</c:v>
                  </c:pt>
                  <c:pt idx="2">
                    <c:v>Lead Quente</c:v>
                  </c:pt>
                  <c:pt idx="3">
                    <c:v>Cliente Ativo</c:v>
                  </c:pt>
                  <c:pt idx="4">
                    <c:v>Sem Contato</c:v>
                  </c:pt>
                  <c:pt idx="5">
                    <c:v>Churned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193</c:v>
                </c:pt>
                <c:pt idx="1">
                  <c:v>148</c:v>
                </c:pt>
                <c:pt idx="2">
                  <c:v>95</c:v>
                </c:pt>
                <c:pt idx="3">
                  <c:v>95</c:v>
                </c:pt>
                <c:pt idx="4">
                  <c:v>41</c:v>
                </c:pt>
                <c:pt idx="5">
                  <c:v>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Leads abertos por tempo de ciclo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 abertos por tempo de ciclo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0-30 dias</c:v>
                  </c:pt>
                  <c:pt idx="1">
                    <c:v>31-60 dias</c:v>
                  </c:pt>
                  <c:pt idx="2">
                    <c:v>61-90 dias</c:v>
                  </c:pt>
                  <c:pt idx="3">
                    <c:v>91-180 dias</c:v>
                  </c:pt>
                  <c:pt idx="4">
                    <c:v>180+ dias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33</c:v>
                </c:pt>
                <c:pt idx="2">
                  <c:v>36</c:v>
                </c:pt>
                <c:pt idx="3">
                  <c:v>133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Conversão lead → Ganho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 lead → Ganho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Inbound</c:v>
                  </c:pt>
                  <c:pt idx="1">
                    <c:v>Evento</c:v>
                  </c:pt>
                  <c:pt idx="2">
                    <c:v>Outreach Ativo</c:v>
                  </c:pt>
                  <c:pt idx="3">
                    <c:v>Indicação</c:v>
                  </c:pt>
                  <c:pt idx="4">
                    <c:v>Franquia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0.2667</c:v>
                </c:pt>
                <c:pt idx="1">
                  <c:v>0.25</c:v>
                </c:pt>
                <c:pt idx="2">
                  <c:v>0.2346</c:v>
                </c:pt>
                <c:pt idx="3">
                  <c:v>0.1667</c:v>
                </c:pt>
                <c:pt idx="4">
                  <c:v>0.155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Leads perdidos por motivo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 perdidos por motivo</c:v>
                </c:pt>
              </c:strCache>
            </c:strRef>
          </c:tx>
          <c:spPr>
            <a:solidFill>
              <a:srgbClr val="F0505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urgência</c:v>
                  </c:pt>
                  <c:pt idx="1">
                    <c:v>Preço</c:v>
                  </c:pt>
                  <c:pt idx="2">
                    <c:v>Sem orçamento</c:v>
                  </c:pt>
                  <c:pt idx="3">
                    <c:v>Concorrente</c:v>
                  </c:pt>
                  <c:pt idx="4">
                    <c:v>ERP atual suficiente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Ganhos por tempo de ciclo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Ganhos por tempo de ciclo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0-30 dias</c:v>
                  </c:pt>
                  <c:pt idx="1">
                    <c:v>31-45 dias</c:v>
                  </c:pt>
                  <c:pt idx="2">
                    <c:v>46-60 dias</c:v>
                  </c:pt>
                  <c:pt idx="3">
                    <c:v>61-75 dias</c:v>
                  </c:pt>
                  <c:pt idx="4">
                    <c:v>76-90 dias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10</c:v>
                </c:pt>
                <c:pt idx="2">
                  <c:v>17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Ciclo médio do Ganho por canal (dias)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Ciclo médio do Ganho por canal (dias)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Franquia (20)</c:v>
                  </c:pt>
                  <c:pt idx="1">
                    <c:v>Indicação (5)</c:v>
                  </c:pt>
                  <c:pt idx="2">
                    <c:v>Inbound (24)</c:v>
                  </c:pt>
                  <c:pt idx="3">
                    <c:v>Evento (5)</c:v>
                  </c:pt>
                  <c:pt idx="4">
                    <c:v>Outreach Ativo (19)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41.1</c:v>
                </c:pt>
                <c:pt idx="1">
                  <c:v>42.4</c:v>
                </c:pt>
                <c:pt idx="2">
                  <c:v>43.1</c:v>
                </c:pt>
                <c:pt idx="3">
                  <c:v>47.4</c:v>
                </c:pt>
                <c:pt idx="4">
                  <c:v>50.3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Ticket médio do Ganho por porte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 do Ganho por porte (R$)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Autônomo (35)</c:v>
                  </c:pt>
                  <c:pt idx="1">
                    <c:v>Pequeno (27)</c:v>
                  </c:pt>
                  <c:pt idx="2">
                    <c:v>Médio (6)</c:v>
                  </c:pt>
                  <c:pt idx="3">
                    <c:v>Grande (5)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938</c:v>
                </c:pt>
                <c:pt idx="1">
                  <c:v>1121</c:v>
                </c:pt>
                <c:pt idx="2">
                  <c:v>1052</c:v>
                </c:pt>
                <c:pt idx="3">
                  <c:v>1097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Fechamentos por mês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Fechamentos por mês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01/24</c:v>
                  </c:pt>
                  <c:pt idx="1">
                    <c:v>02/24</c:v>
                  </c:pt>
                  <c:pt idx="2">
                    <c:v>03/24</c:v>
                  </c:pt>
                  <c:pt idx="3">
                    <c:v>04/24</c:v>
                  </c:pt>
                  <c:pt idx="4">
                    <c:v>05/24</c:v>
                  </c:pt>
                  <c:pt idx="5">
                    <c:v>06/24</c:v>
                  </c:pt>
                  <c:pt idx="6">
                    <c:v>07/24</c:v>
                  </c:pt>
                  <c:pt idx="7">
                    <c:v>08/24</c:v>
                  </c:pt>
                  <c:pt idx="8">
                    <c:v>09/24</c:v>
                  </c:pt>
                  <c:pt idx="9">
                    <c:v>10/24</c:v>
                  </c:pt>
                  <c:pt idx="10">
                    <c:v>11/24</c:v>
                  </c:pt>
                  <c:pt idx="11">
                    <c:v>12/24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35</c:v>
                </c:pt>
                <c:pt idx="2">
                  <c:v>40</c:v>
                </c:pt>
                <c:pt idx="3">
                  <c:v>25</c:v>
                </c:pt>
                <c:pt idx="4">
                  <c:v>21</c:v>
                </c:pt>
                <c:pt idx="5">
                  <c:v>28</c:v>
                </c:pt>
                <c:pt idx="6">
                  <c:v>22</c:v>
                </c:pt>
                <c:pt idx="7">
                  <c:v>33</c:v>
                </c:pt>
                <c:pt idx="8">
                  <c:v>32</c:v>
                </c:pt>
                <c:pt idx="9">
                  <c:v>31</c:v>
                </c:pt>
                <c:pt idx="10">
                  <c:v>26</c:v>
                </c:pt>
                <c:pt idx="11">
                  <c:v>31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nMRR gerado por mês (R$, execução)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nMRR gerado por mês (R$, execução)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01/24</c:v>
                  </c:pt>
                  <c:pt idx="1">
                    <c:v>02/24</c:v>
                  </c:pt>
                  <c:pt idx="2">
                    <c:v>03/24</c:v>
                  </c:pt>
                  <c:pt idx="3">
                    <c:v>04/24</c:v>
                  </c:pt>
                  <c:pt idx="4">
                    <c:v>05/24</c:v>
                  </c:pt>
                  <c:pt idx="5">
                    <c:v>06/24</c:v>
                  </c:pt>
                  <c:pt idx="6">
                    <c:v>07/24</c:v>
                  </c:pt>
                  <c:pt idx="7">
                    <c:v>08/24</c:v>
                  </c:pt>
                  <c:pt idx="8">
                    <c:v>09/24</c:v>
                  </c:pt>
                  <c:pt idx="9">
                    <c:v>10/24</c:v>
                  </c:pt>
                  <c:pt idx="10">
                    <c:v>11/24</c:v>
                  </c:pt>
                  <c:pt idx="11">
                    <c:v>12/24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12502</c:v>
                </c:pt>
                <c:pt idx="1">
                  <c:v>20767</c:v>
                </c:pt>
                <c:pt idx="2">
                  <c:v>24907</c:v>
                </c:pt>
                <c:pt idx="3">
                  <c:v>15114</c:v>
                </c:pt>
                <c:pt idx="4">
                  <c:v>12378</c:v>
                </c:pt>
                <c:pt idx="5">
                  <c:v>15249</c:v>
                </c:pt>
                <c:pt idx="6">
                  <c:v>14364</c:v>
                </c:pt>
                <c:pt idx="7">
                  <c:v>18379</c:v>
                </c:pt>
                <c:pt idx="8">
                  <c:v>19630</c:v>
                </c:pt>
                <c:pt idx="9">
                  <c:v>17304</c:v>
                </c:pt>
                <c:pt idx="10">
                  <c:v>14513</c:v>
                </c:pt>
                <c:pt idx="11">
                  <c:v>19027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Meta × realizado de nMRR (R$/mês)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D5E3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PA</c:v>
                  </c:pt>
                  <c:pt idx="1">
                    <c:v>AM</c:v>
                  </c:pt>
                  <c:pt idx="2">
                    <c:v>BA</c:v>
                  </c:pt>
                  <c:pt idx="3">
                    <c:v>PE</c:v>
                  </c:pt>
                  <c:pt idx="4">
                    <c:v>CE</c:v>
                  </c:pt>
                  <c:pt idx="5">
                    <c:v>RJ</c:v>
                  </c:pt>
                  <c:pt idx="6">
                    <c:v>GO</c:v>
                  </c:pt>
                  <c:pt idx="7">
                    <c:v>DF</c:v>
                  </c:pt>
                  <c:pt idx="8">
                    <c:v>RS</c:v>
                  </c:pt>
                  <c:pt idx="9">
                    <c:v>ES</c:v>
                  </c:pt>
                  <c:pt idx="10">
                    <c:v>SP Interior</c:v>
                  </c:pt>
                  <c:pt idx="11">
                    <c:v>PR</c:v>
                  </c:pt>
                  <c:pt idx="12">
                    <c:v>MG</c:v>
                  </c:pt>
                  <c:pt idx="13">
                    <c:v>SP Capital</c:v>
                  </c:pt>
                  <c:pt idx="14">
                    <c:v>SC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7500</c:v>
                </c:pt>
                <c:pt idx="1">
                  <c:v>8000</c:v>
                </c:pt>
                <c:pt idx="2">
                  <c:v>14000</c:v>
                </c:pt>
                <c:pt idx="3">
                  <c:v>12000</c:v>
                </c:pt>
                <c:pt idx="4">
                  <c:v>10000</c:v>
                </c:pt>
                <c:pt idx="5">
                  <c:v>32000</c:v>
                </c:pt>
                <c:pt idx="6">
                  <c:v>16000</c:v>
                </c:pt>
                <c:pt idx="7">
                  <c:v>20000</c:v>
                </c:pt>
                <c:pt idx="8">
                  <c:v>24000</c:v>
                </c:pt>
                <c:pt idx="9">
                  <c:v>11000</c:v>
                </c:pt>
                <c:pt idx="10">
                  <c:v>28000</c:v>
                </c:pt>
                <c:pt idx="11">
                  <c:v>30000</c:v>
                </c:pt>
                <c:pt idx="12">
                  <c:v>22000</c:v>
                </c:pt>
                <c:pt idx="13">
                  <c:v>45000</c:v>
                </c:pt>
                <c:pt idx="14">
                  <c:v>18000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PA</c:v>
                  </c:pt>
                  <c:pt idx="1">
                    <c:v>AM</c:v>
                  </c:pt>
                  <c:pt idx="2">
                    <c:v>BA</c:v>
                  </c:pt>
                  <c:pt idx="3">
                    <c:v>PE</c:v>
                  </c:pt>
                  <c:pt idx="4">
                    <c:v>CE</c:v>
                  </c:pt>
                  <c:pt idx="5">
                    <c:v>RJ</c:v>
                  </c:pt>
                  <c:pt idx="6">
                    <c:v>GO</c:v>
                  </c:pt>
                  <c:pt idx="7">
                    <c:v>DF</c:v>
                  </c:pt>
                  <c:pt idx="8">
                    <c:v>RS</c:v>
                  </c:pt>
                  <c:pt idx="9">
                    <c:v>ES</c:v>
                  </c:pt>
                  <c:pt idx="10">
                    <c:v>SP Interior</c:v>
                  </c:pt>
                  <c:pt idx="11">
                    <c:v>PR</c:v>
                  </c:pt>
                  <c:pt idx="12">
                    <c:v>MG</c:v>
                  </c:pt>
                  <c:pt idx="13">
                    <c:v>SP Capital</c:v>
                  </c:pt>
                  <c:pt idx="14">
                    <c:v>SC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5500</c:v>
                </c:pt>
                <c:pt idx="1">
                  <c:v>6000</c:v>
                </c:pt>
                <c:pt idx="2">
                  <c:v>11000</c:v>
                </c:pt>
                <c:pt idx="3">
                  <c:v>10000</c:v>
                </c:pt>
                <c:pt idx="4">
                  <c:v>8500</c:v>
                </c:pt>
                <c:pt idx="5">
                  <c:v>28000</c:v>
                </c:pt>
                <c:pt idx="6">
                  <c:v>14000</c:v>
                </c:pt>
                <c:pt idx="7">
                  <c:v>18000</c:v>
                </c:pt>
                <c:pt idx="8">
                  <c:v>23000</c:v>
                </c:pt>
                <c:pt idx="9">
                  <c:v>12000</c:v>
                </c:pt>
                <c:pt idx="10">
                  <c:v>31000</c:v>
                </c:pt>
                <c:pt idx="11">
                  <c:v>34000</c:v>
                </c:pt>
                <c:pt idx="12">
                  <c:v>25000</c:v>
                </c:pt>
                <c:pt idx="13">
                  <c:v>52000</c:v>
                </c:pt>
                <c:pt idx="14">
                  <c:v>21000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D5E3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EC-mês por nº de fechamentos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EC-mês por nº de fechamentos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</c:v>
                </c:pt>
                <c:pt idx="1">
                  <c:v>197</c:v>
                </c:pt>
                <c:pt idx="2">
                  <c:v>62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lavi\OneDrive\Documentos\Omie_Antigravity\omie-case-contadores\deck\design_system\simbolo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4023360"/>
            <a:ext cx="4206240" cy="4206240"/>
          </a:xfrm>
          <a:prstGeom prst="rect">
            <a:avLst/>
          </a:prstGeom>
        </p:spPr>
      </p:pic>
      <p:pic>
        <p:nvPicPr>
          <p:cNvPr id="3" name="Image 1" descr="C:\Users\flavi\OneDrive\Documentos\Omie_Antigravity\omie-case-contadores\deck\design_system\logo_omie_cia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329184"/>
            <a:ext cx="1005840" cy="3091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B9D3D9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lavi\OneDrive\Documentos\Omie_Antigravity\omie-case-contadores\deck\design_system\logo_omie_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29184"/>
            <a:ext cx="1005840" cy="3091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4E6B7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ESTUDO DO CENÁRIO · CANAL DE CONTADORES OMIE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Todos os KPIs que a base do case permite medir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funil, conversão, ciclo, MRR e meta × realizado</a:t>
            </a:r>
            <a:endParaRPr lang="en-US" sz="2800" dirty="0"/>
          </a:p>
        </p:txBody>
      </p:sp>
      <p:sp>
        <p:nvSpPr>
          <p:cNvPr id="4" name="Fonte 1"/>
          <p:cNvSpPr/>
          <p:nvPr/>
        </p:nvSpPr>
        <p:spPr>
          <a:xfrm>
            <a:off x="5486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5" name="Fonte 1 texto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mercado_contadores</a:t>
            </a:r>
            <a:endParaRPr lang="en-US" sz="1200" dirty="0"/>
          </a:p>
        </p:txBody>
      </p:sp>
      <p:sp>
        <p:nvSpPr>
          <p:cNvPr id="6" name="Fonte 1 texto"/>
          <p:cNvSpPr txBox="1"/>
          <p:nvPr/>
        </p:nvSpPr>
        <p:spPr>
          <a:xfrm>
            <a:off x="3108960" y="2011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600 escritórios: perfil, status_omie e converteu_omie</a:t>
            </a:r>
            <a:endParaRPr lang="en-US" sz="1400" dirty="0"/>
          </a:p>
        </p:txBody>
      </p:sp>
      <p:sp>
        <p:nvSpPr>
          <p:cNvPr id="7" name="Fonte 2"/>
          <p:cNvSpPr/>
          <p:nvPr/>
        </p:nvSpPr>
        <p:spPr>
          <a:xfrm>
            <a:off x="548640" y="2761488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8" name="Fonte 2 texto"/>
          <p:cNvSpPr txBox="1"/>
          <p:nvPr/>
        </p:nvSpPr>
        <p:spPr>
          <a:xfrm>
            <a:off x="54864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leads_pipeline</a:t>
            </a:r>
            <a:endParaRPr lang="en-US" sz="1200" dirty="0"/>
          </a:p>
        </p:txBody>
      </p:sp>
      <p:sp>
        <p:nvSpPr>
          <p:cNvPr id="9" name="Fonte 2 texto"/>
          <p:cNvSpPr txBox="1"/>
          <p:nvPr/>
        </p:nvSpPr>
        <p:spPr>
          <a:xfrm>
            <a:off x="3108960" y="27614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350 leads, entradas de 2024-01 a 2025-12: status, canal, MRR, perda e ciclo</a:t>
            </a:r>
            <a:endParaRPr lang="en-US" sz="1400" dirty="0"/>
          </a:p>
        </p:txBody>
      </p:sp>
      <p:sp>
        <p:nvSpPr>
          <p:cNvPr id="10" name="Fonte 3"/>
          <p:cNvSpPr/>
          <p:nvPr/>
        </p:nvSpPr>
        <p:spPr>
          <a:xfrm>
            <a:off x="548640" y="3511296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11" name="Fonte 3 texto"/>
          <p:cNvSpPr txBox="1"/>
          <p:nvPr/>
        </p:nvSpPr>
        <p:spPr>
          <a:xfrm>
            <a:off x="548640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execucao_comercial</a:t>
            </a:r>
            <a:endParaRPr lang="en-US" sz="1200" dirty="0"/>
          </a:p>
        </p:txBody>
      </p:sp>
      <p:sp>
        <p:nvSpPr>
          <p:cNvPr id="12" name="Fonte 3 texto"/>
          <p:cNvSpPr txBox="1"/>
          <p:nvPr/>
        </p:nvSpPr>
        <p:spPr>
          <a:xfrm>
            <a:off x="3108960" y="35112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funil mensal da rede em 2024 (528 EC-mês): leads → reuniões → propostas → fechamentos</a:t>
            </a:r>
            <a:endParaRPr lang="en-US" sz="1400" dirty="0"/>
          </a:p>
        </p:txBody>
      </p:sp>
      <p:sp>
        <p:nvSpPr>
          <p:cNvPr id="13" name="Fonte 4"/>
          <p:cNvSpPr/>
          <p:nvPr/>
        </p:nvSpPr>
        <p:spPr>
          <a:xfrm>
            <a:off x="548640" y="4261104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14" name="Fonte 4 texto"/>
          <p:cNvSpPr txBox="1"/>
          <p:nvPr/>
        </p:nvSpPr>
        <p:spPr>
          <a:xfrm>
            <a:off x="548640" y="4261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franquias</a:t>
            </a:r>
            <a:endParaRPr lang="en-US" sz="1200" dirty="0"/>
          </a:p>
        </p:txBody>
      </p:sp>
      <p:sp>
        <p:nvSpPr>
          <p:cNvPr id="15" name="Fonte 4 texto"/>
          <p:cNvSpPr txBox="1"/>
          <p:nvPr/>
        </p:nvSpPr>
        <p:spPr>
          <a:xfrm>
            <a:off x="3108960" y="42611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15 franquias, 44 ECs: meta × realizado de nMRR do mês</a:t>
            </a:r>
            <a:endParaRPr lang="en-US" sz="1400" dirty="0"/>
          </a:p>
        </p:txBody>
      </p:sp>
      <p:sp>
        <p:nvSpPr>
          <p:cNvPr id="16" name="Fonte 5"/>
          <p:cNvSpPr/>
          <p:nvPr/>
        </p:nvSpPr>
        <p:spPr>
          <a:xfrm>
            <a:off x="548640" y="501091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17" name="Fonte 5 texto"/>
          <p:cNvSpPr txBox="1"/>
          <p:nvPr/>
        </p:nvSpPr>
        <p:spPr>
          <a:xfrm>
            <a:off x="548640" y="5010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clientes_ativos</a:t>
            </a:r>
            <a:endParaRPr lang="en-US" sz="1200" dirty="0"/>
          </a:p>
        </p:txBody>
      </p:sp>
      <p:sp>
        <p:nvSpPr>
          <p:cNvPr id="18" name="Fonte 5 texto"/>
          <p:cNvSpPr txBox="1"/>
          <p:nvPr/>
        </p:nvSpPr>
        <p:spPr>
          <a:xfrm>
            <a:off x="3108960" y="50109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73 contratos: plano, MRR inicial e atual, churn, NPS e upsell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3D9"/>
                </a:solidFill>
              </a:rPr>
              <a:t>Só dados da base, sem regras externas. Única referência de corte: 90 dias para lead parado (nenhum Ganho da base fechou depois de 89 dias).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 · MAPA DE KPIS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Mapa de KPIs do canal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fórmula, fonte e valor atual da rede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Fórmulas aplicadas às colunas da base; win rate conta por quantidade de leads.</a:t>
            </a:r>
            <a:endParaRPr lang="en-US" sz="1000" dirty="0"/>
          </a:p>
        </p:txBody>
      </p:sp>
      <p:graphicFrame>
        <p:nvGraphicFramePr>
          <p:cNvPr id="3" name="Mapa de KP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1828800"/>
                <a:gridCol w="16733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hoje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lead → Ganho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 ÷ total de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 ÷ (Ganho + Perdido)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Tentativas de contato por Ganho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num_tentativas_contato ÷ 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médio do Ganho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de tempo_ciclo_dias dos 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44,7 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parado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abertos com tempo_ciclo_dias &gt; 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de 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do novo 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de mrr_inicial dos 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leads_pipeline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churn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Churned ÷ contratos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clientes_ativos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Retenção de receita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mrr_atual ÷ Σ mrr_inicial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clientes_ativos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Funil por etapa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reuniões ÷ leads · propostas ÷ reuniões · fechamentos ÷ propostas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execucao_comercial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41,6% · 49,7% · 19,3%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do funil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fechamentos ÷ leads trabalhados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execucao_comercial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do 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trabalhados por EC-mês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execucao_comercial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EC-mês sem fechamento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 com fechamentos = 0 ÷ linhas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execucao_comercial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Atingimento da 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realizado_nmrr_mes ÷ meta_nmrr_mes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das franquias abaixo da 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(meta − realizado) onde realizado &lt; 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R$ 19,5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2 · 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350 leads, 73 Ganhos e 58 clientes ativos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 a rede de 15 franquias em 100,5% da meta de nMRR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mercado_contadores · leads_pipeline · clientes_ativos · franquias</a:t>
            </a:r>
            <a:endParaRPr lang="en-US" sz="10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2670048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6" name="Card 1 número"/>
          <p:cNvSpPr txBox="1"/>
          <p:nvPr/>
        </p:nvSpPr>
        <p:spPr>
          <a:xfrm>
            <a:off x="685800" y="1828800"/>
            <a:ext cx="23957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600</a:t>
            </a:r>
            <a:endParaRPr lang="en-US" sz="2400" dirty="0"/>
          </a:p>
        </p:txBody>
      </p:sp>
      <p:sp>
        <p:nvSpPr>
          <p:cNvPr id="7" name="Card 1 rótulo"/>
          <p:cNvSpPr txBox="1"/>
          <p:nvPr/>
        </p:nvSpPr>
        <p:spPr>
          <a:xfrm>
            <a:off x="685800" y="2462022"/>
            <a:ext cx="2395728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escritórios no mercado; 240 com converteu_omie = 1 (40%)</a:t>
            </a:r>
            <a:endParaRPr lang="en-US" sz="1100" dirty="0"/>
          </a:p>
        </p:txBody>
      </p:sp>
      <p:sp>
        <p:nvSpPr>
          <p:cNvPr id="8" name="Card 2"/>
          <p:cNvSpPr/>
          <p:nvPr/>
        </p:nvSpPr>
        <p:spPr>
          <a:xfrm>
            <a:off x="3364992" y="1783080"/>
            <a:ext cx="2670048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Card 2 número"/>
          <p:cNvSpPr txBox="1"/>
          <p:nvPr/>
        </p:nvSpPr>
        <p:spPr>
          <a:xfrm>
            <a:off x="3502152" y="1828800"/>
            <a:ext cx="23957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350</a:t>
            </a:r>
            <a:endParaRPr lang="en-US" sz="2400" dirty="0"/>
          </a:p>
        </p:txBody>
      </p:sp>
      <p:sp>
        <p:nvSpPr>
          <p:cNvPr id="10" name="Card 2 rótulo"/>
          <p:cNvSpPr txBox="1"/>
          <p:nvPr/>
        </p:nvSpPr>
        <p:spPr>
          <a:xfrm>
            <a:off x="3502152" y="2462022"/>
            <a:ext cx="2395728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leads (73 Ganhos, 41 Perdidos, 236 abertos)</a:t>
            </a:r>
            <a:endParaRPr lang="en-US" sz="1100" dirty="0"/>
          </a:p>
        </p:txBody>
      </p:sp>
      <p:sp>
        <p:nvSpPr>
          <p:cNvPr id="11" name="Card 3"/>
          <p:cNvSpPr/>
          <p:nvPr/>
        </p:nvSpPr>
        <p:spPr>
          <a:xfrm>
            <a:off x="6181344" y="1783080"/>
            <a:ext cx="2670048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2" name="Card 3 número"/>
          <p:cNvSpPr txBox="1"/>
          <p:nvPr/>
        </p:nvSpPr>
        <p:spPr>
          <a:xfrm>
            <a:off x="6318504" y="1828800"/>
            <a:ext cx="23957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73</a:t>
            </a:r>
            <a:endParaRPr lang="en-US" sz="2400" dirty="0"/>
          </a:p>
        </p:txBody>
      </p:sp>
      <p:sp>
        <p:nvSpPr>
          <p:cNvPr id="13" name="Card 3 rótulo"/>
          <p:cNvSpPr txBox="1"/>
          <p:nvPr/>
        </p:nvSpPr>
        <p:spPr>
          <a:xfrm>
            <a:off x="6318504" y="2462022"/>
            <a:ext cx="2395728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contratos em clientes_ativos (58 ativos, 15 churned)</a:t>
            </a:r>
            <a:endParaRPr lang="en-US" sz="1100" dirty="0"/>
          </a:p>
        </p:txBody>
      </p:sp>
      <p:sp>
        <p:nvSpPr>
          <p:cNvPr id="14" name="Card 4"/>
          <p:cNvSpPr/>
          <p:nvPr/>
        </p:nvSpPr>
        <p:spPr>
          <a:xfrm>
            <a:off x="8997696" y="1783080"/>
            <a:ext cx="2670048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5" name="Card 4 número"/>
          <p:cNvSpPr txBox="1"/>
          <p:nvPr/>
        </p:nvSpPr>
        <p:spPr>
          <a:xfrm>
            <a:off x="9134856" y="1828800"/>
            <a:ext cx="23957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 · 44</a:t>
            </a:r>
            <a:endParaRPr lang="en-US" sz="2400" dirty="0"/>
          </a:p>
        </p:txBody>
      </p:sp>
      <p:sp>
        <p:nvSpPr>
          <p:cNvPr id="16" name="Card 4 rótulo"/>
          <p:cNvSpPr txBox="1"/>
          <p:nvPr/>
        </p:nvSpPr>
        <p:spPr>
          <a:xfrm>
            <a:off x="9134856" y="2462022"/>
            <a:ext cx="2395728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franquias · ECs (num_executivos)</a:t>
            </a:r>
            <a:endParaRPr lang="en-US" sz="1100" dirty="0"/>
          </a:p>
        </p:txBody>
      </p:sp>
      <p:sp>
        <p:nvSpPr>
          <p:cNvPr id="17" name="Meta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8" name="Meta número"/>
          <p:cNvSpPr txBox="1"/>
          <p:nvPr/>
        </p:nvSpPr>
        <p:spPr>
          <a:xfrm>
            <a:off x="685800" y="3246120"/>
            <a:ext cx="3337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R$ 297,5 mil</a:t>
            </a:r>
            <a:endParaRPr lang="en-US" sz="2400" dirty="0"/>
          </a:p>
        </p:txBody>
      </p:sp>
      <p:sp>
        <p:nvSpPr>
          <p:cNvPr id="19" name="Meta rótulo"/>
          <p:cNvSpPr txBox="1"/>
          <p:nvPr/>
        </p:nvSpPr>
        <p:spPr>
          <a:xfrm>
            <a:off x="685800" y="3879342"/>
            <a:ext cx="333756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meta de nMRR do mês (soma das franquias)</a:t>
            </a:r>
            <a:endParaRPr lang="en-US" sz="1100" dirty="0"/>
          </a:p>
        </p:txBody>
      </p:sp>
      <p:sp>
        <p:nvSpPr>
          <p:cNvPr id="20" name="Realizado"/>
          <p:cNvSpPr/>
          <p:nvPr/>
        </p:nvSpPr>
        <p:spPr>
          <a:xfrm>
            <a:off x="4297680" y="3200400"/>
            <a:ext cx="3611880" cy="1234440"/>
          </a:xfrm>
          <a:prstGeom prst="roundRect">
            <a:avLst>
              <a:gd name="adj" fmla="val 1037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1" name="Realizado número"/>
          <p:cNvSpPr txBox="1"/>
          <p:nvPr/>
        </p:nvSpPr>
        <p:spPr>
          <a:xfrm>
            <a:off x="4434840" y="3246120"/>
            <a:ext cx="3337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R$ 299,0 mil</a:t>
            </a:r>
            <a:endParaRPr lang="en-US" sz="2400" dirty="0"/>
          </a:p>
        </p:txBody>
      </p:sp>
      <p:sp>
        <p:nvSpPr>
          <p:cNvPr id="22" name="Realizado rótulo"/>
          <p:cNvSpPr txBox="1"/>
          <p:nvPr/>
        </p:nvSpPr>
        <p:spPr>
          <a:xfrm>
            <a:off x="4434840" y="3879342"/>
            <a:ext cx="333756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realizado de nMRR do mês (soma das franquias)</a:t>
            </a:r>
            <a:endParaRPr lang="en-US" sz="1100" dirty="0"/>
          </a:p>
        </p:txBody>
      </p:sp>
      <p:sp>
        <p:nvSpPr>
          <p:cNvPr id="23" name="Atingimento"/>
          <p:cNvSpPr/>
          <p:nvPr/>
        </p:nvSpPr>
        <p:spPr>
          <a:xfrm>
            <a:off x="8046720" y="3200400"/>
            <a:ext cx="3685032" cy="1234440"/>
          </a:xfrm>
          <a:prstGeom prst="roundRect">
            <a:avLst>
              <a:gd name="adj" fmla="val 10370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24" name="Atingimento número"/>
          <p:cNvSpPr txBox="1"/>
          <p:nvPr/>
        </p:nvSpPr>
        <p:spPr>
          <a:xfrm>
            <a:off x="8183880" y="3246120"/>
            <a:ext cx="341071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100,5%</a:t>
            </a:r>
            <a:endParaRPr lang="en-US" sz="2400" dirty="0"/>
          </a:p>
        </p:txBody>
      </p:sp>
      <p:sp>
        <p:nvSpPr>
          <p:cNvPr id="25" name="Atingimento rótulo"/>
          <p:cNvSpPr txBox="1"/>
          <p:nvPr/>
        </p:nvSpPr>
        <p:spPr>
          <a:xfrm>
            <a:off x="8183880" y="3879342"/>
            <a:ext cx="3410712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atingimento da rede; 9 franquias abaixo, gap de R$ 19,5 mil</a:t>
            </a:r>
            <a:endParaRPr lang="en-US" sz="1100" dirty="0"/>
          </a:p>
        </p:txBody>
      </p:sp>
      <p:graphicFrame>
        <p:nvGraphicFramePr>
          <p:cNvPr id="26" name="status_omie" descr=""/>
          <p:cNvGraphicFramePr/>
          <p:nvPr/>
        </p:nvGraphicFramePr>
        <p:xfrm>
          <a:off x="548640" y="4572000"/>
          <a:ext cx="5486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Leitura"/>
          <p:cNvSpPr/>
          <p:nvPr/>
        </p:nvSpPr>
        <p:spPr>
          <a:xfrm>
            <a:off x="6217920" y="4572000"/>
            <a:ext cx="5513832" cy="1691640"/>
          </a:xfrm>
          <a:prstGeom prst="roundRect">
            <a:avLst>
              <a:gd name="adj" fmla="val 7568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8" name="Leitura texto"/>
          <p:cNvSpPr txBox="1"/>
          <p:nvPr/>
        </p:nvSpPr>
        <p:spPr>
          <a:xfrm>
            <a:off x="6355080" y="4645152"/>
            <a:ext cx="52395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A rede como um todo bate a meta, mas 9 das 15 franquias estão abaixo dela.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67% dos leads seguem abertos.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· STATUS DOS LEADS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236 leads abertos, 133 parados há mais de 90 dias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56% do pipeline aberto passou do maior ciclo de Ganho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(status_lead, tempo_ciclo_dias)</a:t>
            </a:r>
            <a:endParaRPr lang="en-US" sz="1000" dirty="0"/>
          </a:p>
        </p:txBody>
      </p:sp>
      <p:graphicFrame>
        <p:nvGraphicFramePr>
          <p:cNvPr id="5" name="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005840"/>
                <a:gridCol w="10972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(média)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Parados &gt; 90d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Contato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Reunião Agendada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 Enviada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Resposta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Aging" descr=""/>
          <p:cNvGraphicFramePr/>
          <p:nvPr/>
        </p:nvGraphicFramePr>
        <p:xfrm>
          <a:off x="6492240" y="1783080"/>
          <a:ext cx="5239512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itura"/>
          <p:cNvSpPr/>
          <p:nvPr/>
        </p:nvSpPr>
        <p:spPr>
          <a:xfrm>
            <a:off x="6492240" y="4389120"/>
            <a:ext cx="5239512" cy="1874520"/>
          </a:xfrm>
          <a:prstGeom prst="roundRect">
            <a:avLst>
              <a:gd name="adj" fmla="val 6829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8" name="Leitura texto"/>
          <p:cNvSpPr txBox="1"/>
          <p:nvPr/>
        </p:nvSpPr>
        <p:spPr>
          <a:xfrm>
            <a:off x="6629400" y="4462272"/>
            <a:ext cx="496519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Nenhum lead aberto passa de 180 dias; 133 estão entre 91 e 180.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Em Contato (69) e Novo (57) concentram o pipeline aberto; 21 estão em Sem Resposta.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Ganhos fecham em 44,7 dias em média; Perdidos levam 76,6.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· CONVERSÃO POR CANAL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Conversão de 20,9% e win rate de 64,0%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Inbound converte mais; Franquia, o maior canal, menos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(canal_origem, status_lead, num_tentativas_contato)</a:t>
            </a:r>
            <a:endParaRPr lang="en-US" sz="1000" dirty="0"/>
          </a:p>
        </p:txBody>
      </p:sp>
      <p:graphicFrame>
        <p:nvGraphicFramePr>
          <p:cNvPr id="6" name="Conversão can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  <a:gridCol w="1371600"/>
                <a:gridCol w="1371600"/>
                <a:gridCol w="20391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Tentativas por Ganho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onv canal" descr=""/>
          <p:cNvGraphicFramePr/>
          <p:nvPr/>
        </p:nvGraphicFramePr>
        <p:xfrm>
          <a:off x="548640" y="4206240"/>
          <a:ext cx="54864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itura"/>
          <p:cNvSpPr/>
          <p:nvPr/>
        </p:nvSpPr>
        <p:spPr>
          <a:xfrm>
            <a:off x="6217920" y="4206240"/>
            <a:ext cx="5513832" cy="2057400"/>
          </a:xfrm>
          <a:prstGeom prst="roundRect">
            <a:avLst>
              <a:gd name="adj" fmla="val 6222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8" name="Leitura texto"/>
          <p:cNvSpPr txBox="1"/>
          <p:nvPr/>
        </p:nvSpPr>
        <p:spPr>
          <a:xfrm>
            <a:off x="6355080" y="4279392"/>
            <a:ext cx="523951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Franquia traz 129 dos 350 leads, com a menor conversão e o menor win rate.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Evento e Indicação têm amostra pequena (20 e 30 leads).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Conversão = Ganhos ÷ todos os leads; win rate = Ganhos ÷ leads encerrados.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5 · CONVERSÃO POR PERFIL E TERRITÓRIO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 pipeline real, o Autônomo converte mais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 o Médio Escritório tem o menor win rate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× mercado_contadores (porte, regiao) · id_franquia só no canal Franquia</a:t>
            </a:r>
            <a:endParaRPr lang="en-US" sz="1000" dirty="0"/>
          </a:p>
        </p:txBody>
      </p:sp>
      <p:graphicFrame>
        <p:nvGraphicFramePr>
          <p:cNvPr id="7" name="Conv por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Autônomo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 Escritório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Escritório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Escritório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Conv regi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Conv franqu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513832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822960"/>
                <a:gridCol w="82296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Interior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Leitura"/>
          <p:cNvSpPr/>
          <p:nvPr/>
        </p:nvSpPr>
        <p:spPr>
          <a:xfrm>
            <a:off x="548640" y="5257800"/>
            <a:ext cx="5486400" cy="1005840"/>
          </a:xfrm>
          <a:prstGeom prst="roundRect">
            <a:avLst>
              <a:gd name="adj" fmla="val 1272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Leitura texto"/>
          <p:cNvSpPr txBox="1"/>
          <p:nvPr/>
        </p:nvSpPr>
        <p:spPr>
          <a:xfrm>
            <a:off x="685800" y="5330952"/>
            <a:ext cx="5212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O padrão é o oposto do converteu_omie, em que Médio e Grande convertem quase sempre.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Por franquia, os leads são de 4 a 13: amostra pequena para comparar.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6 · MOTIVOS DE PERDA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41 leads perdidos: sem urgência, preço e orçamento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somam 76% das perdas; concorrente, 15%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(motivo_perda, preenchido só em Perdido)</a:t>
            </a:r>
            <a:endParaRPr lang="en-US" sz="1000" dirty="0"/>
          </a:p>
        </p:txBody>
      </p:sp>
      <p:graphicFrame>
        <p:nvGraphicFramePr>
          <p:cNvPr id="5" name="Perda" descr=""/>
          <p:cNvGraphicFramePr/>
          <p:nvPr/>
        </p:nvGraphicFramePr>
        <p:xfrm>
          <a:off x="548640" y="1783080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Perda can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83080"/>
          <a:ext cx="5879592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804672"/>
                <a:gridCol w="804672"/>
                <a:gridCol w="804672"/>
                <a:gridCol w="804672"/>
                <a:gridCol w="804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atual suficiente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orçamento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urgência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Perda por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3703320"/>
          <a:ext cx="5879592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100584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Autônomo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atual suficiente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orçamento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urgência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Leitura"/>
          <p:cNvSpPr/>
          <p:nvPr/>
        </p:nvSpPr>
        <p:spPr>
          <a:xfrm>
            <a:off x="548640" y="4572000"/>
            <a:ext cx="5120640" cy="1691640"/>
          </a:xfrm>
          <a:prstGeom prst="roundRect">
            <a:avLst>
              <a:gd name="adj" fmla="val 7568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Leitura texto"/>
          <p:cNvSpPr txBox="1"/>
          <p:nvPr/>
        </p:nvSpPr>
        <p:spPr>
          <a:xfrm>
            <a:off x="685800" y="4645152"/>
            <a:ext cx="48463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Perdidos tiveram 7,0 tentativas de contato e 76,6 dias de ciclo, em média.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Amostra de 41 perdas: as diferenças entre canais e portes são de poucos leads.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7 · CICLO DE VENDAS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Ganho fecha em 44,7 dias em média (mediana 47)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 nenhum fechou depois de 89 dias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(tempo_ciclo_dias dos Ganhos)</a:t>
            </a:r>
            <a:endParaRPr lang="en-US" sz="1000" dirty="0"/>
          </a:p>
        </p:txBody>
      </p:sp>
      <p:sp>
        <p:nvSpPr>
          <p:cNvPr id="5" name="Ciclo 1"/>
          <p:cNvSpPr/>
          <p:nvPr/>
        </p:nvSpPr>
        <p:spPr>
          <a:xfrm>
            <a:off x="548640" y="1783080"/>
            <a:ext cx="2670048" cy="1143000"/>
          </a:xfrm>
          <a:prstGeom prst="roundRect">
            <a:avLst>
              <a:gd name="adj" fmla="val 11200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6" name="Ciclo 1 número"/>
          <p:cNvSpPr txBox="1"/>
          <p:nvPr/>
        </p:nvSpPr>
        <p:spPr>
          <a:xfrm>
            <a:off x="685800" y="1828800"/>
            <a:ext cx="23957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44,7</a:t>
            </a:r>
            <a:endParaRPr lang="en-US" sz="2400" dirty="0"/>
          </a:p>
        </p:txBody>
      </p:sp>
      <p:sp>
        <p:nvSpPr>
          <p:cNvPr id="7" name="Ciclo 1 rótulo"/>
          <p:cNvSpPr txBox="1"/>
          <p:nvPr/>
        </p:nvSpPr>
        <p:spPr>
          <a:xfrm>
            <a:off x="685800" y="2411730"/>
            <a:ext cx="23957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dias: ciclo médio do Ganho</a:t>
            </a:r>
            <a:endParaRPr lang="en-US" sz="1100" dirty="0"/>
          </a:p>
        </p:txBody>
      </p:sp>
      <p:sp>
        <p:nvSpPr>
          <p:cNvPr id="8" name="Ciclo 2"/>
          <p:cNvSpPr/>
          <p:nvPr/>
        </p:nvSpPr>
        <p:spPr>
          <a:xfrm>
            <a:off x="3364992" y="1783080"/>
            <a:ext cx="2670048" cy="1143000"/>
          </a:xfrm>
          <a:prstGeom prst="roundRect">
            <a:avLst>
              <a:gd name="adj" fmla="val 112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Ciclo 2 número"/>
          <p:cNvSpPr txBox="1"/>
          <p:nvPr/>
        </p:nvSpPr>
        <p:spPr>
          <a:xfrm>
            <a:off x="3502152" y="1828800"/>
            <a:ext cx="23957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47</a:t>
            </a:r>
            <a:endParaRPr lang="en-US" sz="2400" dirty="0"/>
          </a:p>
        </p:txBody>
      </p:sp>
      <p:sp>
        <p:nvSpPr>
          <p:cNvPr id="10" name="Ciclo 2 rótulo"/>
          <p:cNvSpPr txBox="1"/>
          <p:nvPr/>
        </p:nvSpPr>
        <p:spPr>
          <a:xfrm>
            <a:off x="3502152" y="2411730"/>
            <a:ext cx="23957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dias: mediana</a:t>
            </a:r>
            <a:endParaRPr lang="en-US" sz="1100" dirty="0"/>
          </a:p>
        </p:txBody>
      </p:sp>
      <p:sp>
        <p:nvSpPr>
          <p:cNvPr id="11" name="Ciclo 3"/>
          <p:cNvSpPr/>
          <p:nvPr/>
        </p:nvSpPr>
        <p:spPr>
          <a:xfrm>
            <a:off x="6181344" y="1783080"/>
            <a:ext cx="2670048" cy="1143000"/>
          </a:xfrm>
          <a:prstGeom prst="roundRect">
            <a:avLst>
              <a:gd name="adj" fmla="val 112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2" name="Ciclo 3 número"/>
          <p:cNvSpPr txBox="1"/>
          <p:nvPr/>
        </p:nvSpPr>
        <p:spPr>
          <a:xfrm>
            <a:off x="6318504" y="1828800"/>
            <a:ext cx="23957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 a 66</a:t>
            </a:r>
            <a:endParaRPr lang="en-US" sz="2400" dirty="0"/>
          </a:p>
        </p:txBody>
      </p:sp>
      <p:sp>
        <p:nvSpPr>
          <p:cNvPr id="13" name="Ciclo 3 rótulo"/>
          <p:cNvSpPr txBox="1"/>
          <p:nvPr/>
        </p:nvSpPr>
        <p:spPr>
          <a:xfrm>
            <a:off x="6318504" y="2411730"/>
            <a:ext cx="23957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dias: metade central dos Ganhos (P25 a P75)</a:t>
            </a:r>
            <a:endParaRPr lang="en-US" sz="1100" dirty="0"/>
          </a:p>
        </p:txBody>
      </p:sp>
      <p:sp>
        <p:nvSpPr>
          <p:cNvPr id="14" name="Ciclo 4"/>
          <p:cNvSpPr/>
          <p:nvPr/>
        </p:nvSpPr>
        <p:spPr>
          <a:xfrm>
            <a:off x="8997696" y="1783080"/>
            <a:ext cx="2670048" cy="1143000"/>
          </a:xfrm>
          <a:prstGeom prst="roundRect">
            <a:avLst>
              <a:gd name="adj" fmla="val 112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5" name="Ciclo 4 número"/>
          <p:cNvSpPr txBox="1"/>
          <p:nvPr/>
        </p:nvSpPr>
        <p:spPr>
          <a:xfrm>
            <a:off x="9134856" y="1828800"/>
            <a:ext cx="23957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 a 89</a:t>
            </a:r>
            <a:endParaRPr lang="en-US" sz="2400" dirty="0"/>
          </a:p>
        </p:txBody>
      </p:sp>
      <p:sp>
        <p:nvSpPr>
          <p:cNvPr id="16" name="Ciclo 4 rótulo"/>
          <p:cNvSpPr txBox="1"/>
          <p:nvPr/>
        </p:nvSpPr>
        <p:spPr>
          <a:xfrm>
            <a:off x="9134856" y="2411730"/>
            <a:ext cx="23957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dias: menor e maior ciclo de Ganho</a:t>
            </a:r>
            <a:endParaRPr lang="en-US" sz="1100" dirty="0"/>
          </a:p>
        </p:txBody>
      </p:sp>
      <p:graphicFrame>
        <p:nvGraphicFramePr>
          <p:cNvPr id="17" name="Ciclo faixas" descr=""/>
          <p:cNvGraphicFramePr/>
          <p:nvPr/>
        </p:nvGraphicFramePr>
        <p:xfrm>
          <a:off x="548640" y="3108960"/>
          <a:ext cx="5486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iclo canal" descr=""/>
          <p:cNvGraphicFramePr/>
          <p:nvPr/>
        </p:nvGraphicFramePr>
        <p:xfrm>
          <a:off x="6217920" y="3108960"/>
          <a:ext cx="551383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Leitura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140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0" name="Leitura texto"/>
          <p:cNvSpPr txBox="1"/>
          <p:nvPr/>
        </p:nvSpPr>
        <p:spPr>
          <a:xfrm>
            <a:off x="685800" y="5422392"/>
            <a:ext cx="108200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Por porte: Autônomo 50,4 · Pequeno 40,0 · Médio 49,8 · Grande 23,4 dias.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Perdidos ficam 76,6 dias no funil, bem acima do ciclo de Ganho.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8 · MRR NOVO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73 Ganhos trouxeram R$ 74,9 mil de MRR inicial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ticket médio de R$ 1.026; Inbound é o canal que mais gera MRR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leads_pipeline (mrr_inicial, preenchido só em Ganho) × mercado_contadores (porte)</a:t>
            </a:r>
            <a:endParaRPr lang="en-US" sz="1000" dirty="0"/>
          </a:p>
        </p:txBody>
      </p:sp>
      <p:graphicFrame>
        <p:nvGraphicFramePr>
          <p:cNvPr id="10" name="MRR can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097280"/>
                <a:gridCol w="100584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 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R$ 25.983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R$ 19.559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R$ 17.776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icket porte" descr=""/>
          <p:cNvGraphicFramePr/>
          <p:nvPr/>
        </p:nvGraphicFramePr>
        <p:xfrm>
          <a:off x="6217920" y="1783080"/>
          <a:ext cx="551383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itura"/>
          <p:cNvSpPr/>
          <p:nvPr/>
        </p:nvSpPr>
        <p:spPr>
          <a:xfrm>
            <a:off x="548640" y="3977640"/>
            <a:ext cx="5486400" cy="2286000"/>
          </a:xfrm>
          <a:prstGeom prst="roundRect">
            <a:avLst>
              <a:gd name="adj" fmla="val 56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8" name="Leitura texto"/>
          <p:cNvSpPr txBox="1"/>
          <p:nvPr/>
        </p:nvSpPr>
        <p:spPr>
          <a:xfrm>
            <a:off x="685800" y="4050792"/>
            <a:ext cx="5212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Ticket mediano de R$ 1.009: perto da média, sem distorção por poucos contratos grandes.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Evento tem o maior ticket (R$ 1.376), em só 5 Ganhos.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O ticket varia pouco entre portes, diferente do que o perfil sugeriria.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9 · CARTEIRA, CHURN E EXPANSÃO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MRR da carteira em 89,7% do inicial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15 churns (20,5%) e nenhum entre quem fez upsell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clientes_ativos (plano, mrr_inicial, mrr_atual, status_cliente, upsell_realizado, nps_score)</a:t>
            </a:r>
            <a:endParaRPr lang="en-US" sz="1000" dirty="0"/>
          </a:p>
        </p:txBody>
      </p:sp>
      <p:sp>
        <p:nvSpPr>
          <p:cNvPr id="5" name="Carteira 1"/>
          <p:cNvSpPr/>
          <p:nvPr/>
        </p:nvSpPr>
        <p:spPr>
          <a:xfrm>
            <a:off x="548640" y="1783080"/>
            <a:ext cx="2670048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6" name="Carteira 1 número"/>
          <p:cNvSpPr txBox="1"/>
          <p:nvPr/>
        </p:nvSpPr>
        <p:spPr>
          <a:xfrm>
            <a:off x="685800" y="18288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R$ 74,9 mil</a:t>
            </a:r>
            <a:endParaRPr lang="en-US" sz="2400" dirty="0"/>
          </a:p>
        </p:txBody>
      </p:sp>
      <p:sp>
        <p:nvSpPr>
          <p:cNvPr id="7" name="Carteira 1 rótulo"/>
          <p:cNvSpPr txBox="1"/>
          <p:nvPr/>
        </p:nvSpPr>
        <p:spPr>
          <a:xfrm>
            <a:off x="685800" y="2386584"/>
            <a:ext cx="239572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MRR inicial dos 73 contratos</a:t>
            </a:r>
            <a:endParaRPr lang="en-US" sz="1100" dirty="0"/>
          </a:p>
        </p:txBody>
      </p:sp>
      <p:sp>
        <p:nvSpPr>
          <p:cNvPr id="8" name="Carteira 2"/>
          <p:cNvSpPr/>
          <p:nvPr/>
        </p:nvSpPr>
        <p:spPr>
          <a:xfrm>
            <a:off x="3364992" y="1783080"/>
            <a:ext cx="2670048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Carteira 2 número"/>
          <p:cNvSpPr txBox="1"/>
          <p:nvPr/>
        </p:nvSpPr>
        <p:spPr>
          <a:xfrm>
            <a:off x="3502152" y="18288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R$ 67,2 mil</a:t>
            </a:r>
            <a:endParaRPr lang="en-US" sz="2400" dirty="0"/>
          </a:p>
        </p:txBody>
      </p:sp>
      <p:sp>
        <p:nvSpPr>
          <p:cNvPr id="10" name="Carteira 2 rótulo"/>
          <p:cNvSpPr txBox="1"/>
          <p:nvPr/>
        </p:nvSpPr>
        <p:spPr>
          <a:xfrm>
            <a:off x="3502152" y="2386584"/>
            <a:ext cx="239572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MRR atual (Churned = 0)</a:t>
            </a:r>
            <a:endParaRPr lang="en-US" sz="1100" dirty="0"/>
          </a:p>
        </p:txBody>
      </p:sp>
      <p:sp>
        <p:nvSpPr>
          <p:cNvPr id="11" name="Carteira 3"/>
          <p:cNvSpPr/>
          <p:nvPr/>
        </p:nvSpPr>
        <p:spPr>
          <a:xfrm>
            <a:off x="6181344" y="1783080"/>
            <a:ext cx="2670048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2" name="Carteira 3 número"/>
          <p:cNvSpPr txBox="1"/>
          <p:nvPr/>
        </p:nvSpPr>
        <p:spPr>
          <a:xfrm>
            <a:off x="6318504" y="18288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R$ 15,2 mil</a:t>
            </a:r>
            <a:endParaRPr lang="en-US" sz="2400" dirty="0"/>
          </a:p>
        </p:txBody>
      </p:sp>
      <p:sp>
        <p:nvSpPr>
          <p:cNvPr id="13" name="Carteira 3 rótulo"/>
          <p:cNvSpPr txBox="1"/>
          <p:nvPr/>
        </p:nvSpPr>
        <p:spPr>
          <a:xfrm>
            <a:off x="6318504" y="2386584"/>
            <a:ext cx="239572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MRR inicial perdido com 15 churns</a:t>
            </a:r>
            <a:endParaRPr lang="en-US" sz="1100" dirty="0"/>
          </a:p>
        </p:txBody>
      </p:sp>
      <p:sp>
        <p:nvSpPr>
          <p:cNvPr id="14" name="Carteira 4"/>
          <p:cNvSpPr/>
          <p:nvPr/>
        </p:nvSpPr>
        <p:spPr>
          <a:xfrm>
            <a:off x="8997696" y="1783080"/>
            <a:ext cx="2670048" cy="1097280"/>
          </a:xfrm>
          <a:prstGeom prst="roundRect">
            <a:avLst>
              <a:gd name="adj" fmla="val 11667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15" name="Carteira 4 número"/>
          <p:cNvSpPr txBox="1"/>
          <p:nvPr/>
        </p:nvSpPr>
        <p:spPr>
          <a:xfrm>
            <a:off x="9134856" y="18288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+12,5%</a:t>
            </a:r>
            <a:endParaRPr lang="en-US" sz="2400" dirty="0"/>
          </a:p>
        </p:txBody>
      </p:sp>
      <p:sp>
        <p:nvSpPr>
          <p:cNvPr id="16" name="Carteira 4 rótulo"/>
          <p:cNvSpPr txBox="1"/>
          <p:nvPr/>
        </p:nvSpPr>
        <p:spPr>
          <a:xfrm>
            <a:off x="9134856" y="2386584"/>
            <a:ext cx="239572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MRR atual ÷ inicial dos ativos (expansão)</a:t>
            </a:r>
            <a:endParaRPr lang="en-US" sz="1100" dirty="0"/>
          </a:p>
        </p:txBody>
      </p:sp>
      <p:graphicFrame>
        <p:nvGraphicFramePr>
          <p:cNvPr id="11" name="Plan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6583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005840"/>
                <a:gridCol w="731520"/>
                <a:gridCol w="82296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atual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R$ 10.662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Leitura"/>
          <p:cNvSpPr/>
          <p:nvPr/>
        </p:nvSpPr>
        <p:spPr>
          <a:xfrm>
            <a:off x="7315200" y="3063240"/>
            <a:ext cx="4416552" cy="3200400"/>
          </a:xfrm>
          <a:prstGeom prst="roundRect">
            <a:avLst>
              <a:gd name="adj" fmla="val 4000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9" name="Leitura texto"/>
          <p:cNvSpPr txBox="1"/>
          <p:nvPr/>
        </p:nvSpPr>
        <p:spPr>
          <a:xfrm>
            <a:off x="7452360" y="3136392"/>
            <a:ext cx="41422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Churn: 0% com upsell × 32,6% sem upsell (27 contratos com upsell).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NPS: 7,6 nos ativos × 3,6 nos churned.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Premium tem o maior churn (41%) e o menor upsell.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Contratos têm 9,2 meses de vida em média.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10 · FUNIL DE VENDAS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Funil da rede em 2024: 8.699 leads → 346 fechamentos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proposta → fechamento é a etapa mais estreita (19,3%)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execucao_comercial (jan a dez/2024, 44 EC × 12 meses)</a:t>
            </a:r>
            <a:endParaRPr lang="en-US" sz="1000" dirty="0"/>
          </a:p>
        </p:txBody>
      </p:sp>
      <p:sp>
        <p:nvSpPr>
          <p:cNvPr id="5" name="Etapa 1"/>
          <p:cNvSpPr/>
          <p:nvPr/>
        </p:nvSpPr>
        <p:spPr>
          <a:xfrm>
            <a:off x="548640" y="1783080"/>
            <a:ext cx="6583680" cy="777240"/>
          </a:xfrm>
          <a:prstGeom prst="roundRect">
            <a:avLst>
              <a:gd name="adj" fmla="val 16471"/>
            </a:avLst>
          </a:prstGeom>
          <a:solidFill>
            <a:srgbClr val="006B79"/>
          </a:solidFill>
          <a:ln w="12700">
            <a:solidFill>
              <a:srgbClr val="006B79"/>
            </a:solidFill>
            <a:prstDash val="solid"/>
          </a:ln>
        </p:spPr>
      </p:sp>
      <p:sp>
        <p:nvSpPr>
          <p:cNvPr id="6" name="Etapa 1 texto"/>
          <p:cNvSpPr txBox="1"/>
          <p:nvPr/>
        </p:nvSpPr>
        <p:spPr>
          <a:xfrm>
            <a:off x="548640" y="17830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8.699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Leads trabalhados</a:t>
            </a:r>
            <a:endParaRPr lang="en-US" sz="2000" dirty="0"/>
          </a:p>
        </p:txBody>
      </p:sp>
      <p:sp>
        <p:nvSpPr>
          <p:cNvPr id="7" name="Etapa 2"/>
          <p:cNvSpPr/>
          <p:nvPr/>
        </p:nvSpPr>
        <p:spPr>
          <a:xfrm>
            <a:off x="1234440" y="2743200"/>
            <a:ext cx="5212080" cy="777240"/>
          </a:xfrm>
          <a:prstGeom prst="roundRect">
            <a:avLst>
              <a:gd name="adj" fmla="val 16471"/>
            </a:avLst>
          </a:prstGeom>
          <a:solidFill>
            <a:srgbClr val="006B79"/>
          </a:solidFill>
          <a:ln w="12700">
            <a:solidFill>
              <a:srgbClr val="006B79"/>
            </a:solidFill>
            <a:prstDash val="solid"/>
          </a:ln>
        </p:spPr>
      </p:sp>
      <p:sp>
        <p:nvSpPr>
          <p:cNvPr id="8" name="Etapa 2 texto"/>
          <p:cNvSpPr txBox="1"/>
          <p:nvPr/>
        </p:nvSpPr>
        <p:spPr>
          <a:xfrm>
            <a:off x="1234440" y="2743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3.617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Reuniões realizadas</a:t>
            </a:r>
            <a:endParaRPr lang="en-US" sz="2000" dirty="0"/>
          </a:p>
        </p:txBody>
      </p:sp>
      <p:sp>
        <p:nvSpPr>
          <p:cNvPr id="9" name="Taxa 1"/>
          <p:cNvSpPr/>
          <p:nvPr/>
        </p:nvSpPr>
        <p:spPr>
          <a:xfrm>
            <a:off x="7315200" y="26974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AF8FA"/>
          </a:solidFill>
          <a:ln w="15875">
            <a:solidFill>
              <a:srgbClr val="EAF8FA"/>
            </a:solidFill>
            <a:prstDash val="solid"/>
          </a:ln>
        </p:spPr>
      </p:sp>
      <p:sp>
        <p:nvSpPr>
          <p:cNvPr id="10" name="Taxa 1 texto"/>
          <p:cNvSpPr txBox="1"/>
          <p:nvPr/>
        </p:nvSpPr>
        <p:spPr>
          <a:xfrm>
            <a:off x="7315200" y="2697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41,6%</a:t>
            </a:r>
            <a:endParaRPr lang="en-US" sz="1200" dirty="0"/>
          </a:p>
        </p:txBody>
      </p:sp>
      <p:sp>
        <p:nvSpPr>
          <p:cNvPr id="11" name="Etapa 3"/>
          <p:cNvSpPr/>
          <p:nvPr/>
        </p:nvSpPr>
        <p:spPr>
          <a:xfrm>
            <a:off x="1920240" y="3703320"/>
            <a:ext cx="3840480" cy="777240"/>
          </a:xfrm>
          <a:prstGeom prst="roundRect">
            <a:avLst>
              <a:gd name="adj" fmla="val 16471"/>
            </a:avLst>
          </a:prstGeom>
          <a:solidFill>
            <a:srgbClr val="006B79"/>
          </a:solidFill>
          <a:ln w="12700">
            <a:solidFill>
              <a:srgbClr val="006B79"/>
            </a:solidFill>
            <a:prstDash val="solid"/>
          </a:ln>
        </p:spPr>
      </p:sp>
      <p:sp>
        <p:nvSpPr>
          <p:cNvPr id="12" name="Etapa 3 texto"/>
          <p:cNvSpPr txBox="1"/>
          <p:nvPr/>
        </p:nvSpPr>
        <p:spPr>
          <a:xfrm>
            <a:off x="192024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1.797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Propostas enviadas</a:t>
            </a:r>
            <a:endParaRPr lang="en-US" sz="2000" dirty="0"/>
          </a:p>
        </p:txBody>
      </p:sp>
      <p:sp>
        <p:nvSpPr>
          <p:cNvPr id="13" name="Taxa 2"/>
          <p:cNvSpPr/>
          <p:nvPr/>
        </p:nvSpPr>
        <p:spPr>
          <a:xfrm>
            <a:off x="7315200" y="3657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AF8FA"/>
          </a:solidFill>
          <a:ln w="15875">
            <a:solidFill>
              <a:srgbClr val="EAF8FA"/>
            </a:solidFill>
            <a:prstDash val="solid"/>
          </a:ln>
        </p:spPr>
      </p:sp>
      <p:sp>
        <p:nvSpPr>
          <p:cNvPr id="14" name="Taxa 2 texto"/>
          <p:cNvSpPr txBox="1"/>
          <p:nvPr/>
        </p:nvSpPr>
        <p:spPr>
          <a:xfrm>
            <a:off x="731520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E27"/>
                </a:solidFill>
              </a:rPr>
              <a:t>49,7%</a:t>
            </a:r>
            <a:endParaRPr lang="en-US" sz="1200" dirty="0"/>
          </a:p>
        </p:txBody>
      </p:sp>
      <p:sp>
        <p:nvSpPr>
          <p:cNvPr id="15" name="Etapa 4"/>
          <p:cNvSpPr/>
          <p:nvPr/>
        </p:nvSpPr>
        <p:spPr>
          <a:xfrm>
            <a:off x="2606040" y="4663440"/>
            <a:ext cx="2468880" cy="777240"/>
          </a:xfrm>
          <a:prstGeom prst="roundRect">
            <a:avLst>
              <a:gd name="adj" fmla="val 16471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16" name="Etapa 4 texto"/>
          <p:cNvSpPr txBox="1"/>
          <p:nvPr/>
        </p:nvSpPr>
        <p:spPr>
          <a:xfrm>
            <a:off x="2606040" y="4663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346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Fechamentos</a:t>
            </a:r>
            <a:endParaRPr lang="en-US" sz="2000" dirty="0"/>
          </a:p>
        </p:txBody>
      </p:sp>
      <p:sp>
        <p:nvSpPr>
          <p:cNvPr id="17" name="Taxa 3"/>
          <p:cNvSpPr/>
          <p:nvPr/>
        </p:nvSpPr>
        <p:spPr>
          <a:xfrm>
            <a:off x="7315200" y="46177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0505A"/>
          </a:solidFill>
          <a:ln w="15875">
            <a:solidFill>
              <a:srgbClr val="F0505A"/>
            </a:solidFill>
            <a:prstDash val="solid"/>
          </a:ln>
        </p:spPr>
      </p:sp>
      <p:sp>
        <p:nvSpPr>
          <p:cNvPr id="18" name="Taxa 3 texto"/>
          <p:cNvSpPr txBox="1"/>
          <p:nvPr/>
        </p:nvSpPr>
        <p:spPr>
          <a:xfrm>
            <a:off x="7315200" y="4617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19,3%</a:t>
            </a:r>
            <a:endParaRPr lang="en-US" sz="1200" dirty="0"/>
          </a:p>
        </p:txBody>
      </p:sp>
      <p:sp>
        <p:nvSpPr>
          <p:cNvPr id="19" name="Taxa final"/>
          <p:cNvSpPr/>
          <p:nvPr/>
        </p:nvSpPr>
        <p:spPr>
          <a:xfrm>
            <a:off x="548640" y="5577840"/>
            <a:ext cx="7772400" cy="640080"/>
          </a:xfrm>
          <a:prstGeom prst="roundRect">
            <a:avLst>
              <a:gd name="adj" fmla="val 20000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20" name="Taxa final texto"/>
          <p:cNvSpPr txBox="1"/>
          <p:nvPr/>
        </p:nvSpPr>
        <p:spPr>
          <a:xfrm>
            <a:off x="731520" y="55778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Conversão total do funil: 4,0%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 346 fechamentos ÷ 8.699 leads trabalhados</a:t>
            </a:r>
            <a:endParaRPr lang="en-US" sz="1600" dirty="0"/>
          </a:p>
        </p:txBody>
      </p:sp>
      <p:sp>
        <p:nvSpPr>
          <p:cNvPr id="21" name="Funil kpi 1"/>
          <p:cNvSpPr/>
          <p:nvPr/>
        </p:nvSpPr>
        <p:spPr>
          <a:xfrm>
            <a:off x="8595360" y="1783080"/>
            <a:ext cx="1508760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2" name="Funil kpi 1 número"/>
          <p:cNvSpPr txBox="1"/>
          <p:nvPr/>
        </p:nvSpPr>
        <p:spPr>
          <a:xfrm>
            <a:off x="8732520" y="182880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R$ 204 mil</a:t>
            </a:r>
            <a:endParaRPr lang="en-US" sz="1800" dirty="0"/>
          </a:p>
        </p:txBody>
      </p:sp>
      <p:sp>
        <p:nvSpPr>
          <p:cNvPr id="23" name="Funil kpi 1 rótulo"/>
          <p:cNvSpPr txBox="1"/>
          <p:nvPr/>
        </p:nvSpPr>
        <p:spPr>
          <a:xfrm>
            <a:off x="8732520" y="2386584"/>
            <a:ext cx="12344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nMRR gerado no ano (execução)</a:t>
            </a:r>
            <a:endParaRPr lang="en-US" sz="1100" dirty="0"/>
          </a:p>
        </p:txBody>
      </p:sp>
      <p:sp>
        <p:nvSpPr>
          <p:cNvPr id="24" name="Funil kpi 2"/>
          <p:cNvSpPr/>
          <p:nvPr/>
        </p:nvSpPr>
        <p:spPr>
          <a:xfrm>
            <a:off x="10195560" y="1783080"/>
            <a:ext cx="1508760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5" name="Funil kpi 2 número"/>
          <p:cNvSpPr txBox="1"/>
          <p:nvPr/>
        </p:nvSpPr>
        <p:spPr>
          <a:xfrm>
            <a:off x="10332720" y="182880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R$ 590</a:t>
            </a:r>
            <a:endParaRPr lang="en-US" sz="1800" dirty="0"/>
          </a:p>
        </p:txBody>
      </p:sp>
      <p:sp>
        <p:nvSpPr>
          <p:cNvPr id="26" name="Funil kpi 2 rótulo"/>
          <p:cNvSpPr txBox="1"/>
          <p:nvPr/>
        </p:nvSpPr>
        <p:spPr>
          <a:xfrm>
            <a:off x="10332720" y="2386584"/>
            <a:ext cx="12344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nMRR por fechamento</a:t>
            </a:r>
            <a:endParaRPr lang="en-US" sz="1100" dirty="0"/>
          </a:p>
        </p:txBody>
      </p:sp>
      <p:sp>
        <p:nvSpPr>
          <p:cNvPr id="27" name="Funil kpi 3"/>
          <p:cNvSpPr/>
          <p:nvPr/>
        </p:nvSpPr>
        <p:spPr>
          <a:xfrm>
            <a:off x="8595360" y="3017520"/>
            <a:ext cx="1508760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28" name="Funil kpi 3 número"/>
          <p:cNvSpPr txBox="1"/>
          <p:nvPr/>
        </p:nvSpPr>
        <p:spPr>
          <a:xfrm>
            <a:off x="8732520" y="306324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16,5</a:t>
            </a:r>
            <a:endParaRPr lang="en-US" sz="1800" dirty="0"/>
          </a:p>
        </p:txBody>
      </p:sp>
      <p:sp>
        <p:nvSpPr>
          <p:cNvPr id="29" name="Funil kpi 3 rótulo"/>
          <p:cNvSpPr txBox="1"/>
          <p:nvPr/>
        </p:nvSpPr>
        <p:spPr>
          <a:xfrm>
            <a:off x="8732520" y="3621024"/>
            <a:ext cx="12344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leads trabalhados por EC-mês</a:t>
            </a:r>
            <a:endParaRPr lang="en-US" sz="1100" dirty="0"/>
          </a:p>
        </p:txBody>
      </p:sp>
      <p:sp>
        <p:nvSpPr>
          <p:cNvPr id="30" name="Funil kpi 4"/>
          <p:cNvSpPr/>
          <p:nvPr/>
        </p:nvSpPr>
        <p:spPr>
          <a:xfrm>
            <a:off x="10195560" y="3017520"/>
            <a:ext cx="1508760" cy="1097280"/>
          </a:xfrm>
          <a:prstGeom prst="roundRect">
            <a:avLst>
              <a:gd name="adj" fmla="val 11667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31" name="Funil kpi 4 número"/>
          <p:cNvSpPr txBox="1"/>
          <p:nvPr/>
        </p:nvSpPr>
        <p:spPr>
          <a:xfrm>
            <a:off x="10332720" y="306324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0,66</a:t>
            </a:r>
            <a:endParaRPr lang="en-US" sz="1800" dirty="0"/>
          </a:p>
        </p:txBody>
      </p:sp>
      <p:sp>
        <p:nvSpPr>
          <p:cNvPr id="32" name="Funil kpi 4 rótulo"/>
          <p:cNvSpPr txBox="1"/>
          <p:nvPr/>
        </p:nvSpPr>
        <p:spPr>
          <a:xfrm>
            <a:off x="10332720" y="3621024"/>
            <a:ext cx="12344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B74"/>
                </a:solidFill>
              </a:rPr>
              <a:t>fechamentos por EC-mês</a:t>
            </a:r>
            <a:endParaRPr lang="en-US" sz="1100" dirty="0"/>
          </a:p>
        </p:txBody>
      </p:sp>
      <p:sp>
        <p:nvSpPr>
          <p:cNvPr id="33" name="Leitura"/>
          <p:cNvSpPr/>
          <p:nvPr/>
        </p:nvSpPr>
        <p:spPr>
          <a:xfrm>
            <a:off x="8595360" y="4297680"/>
            <a:ext cx="3136392" cy="1965960"/>
          </a:xfrm>
          <a:prstGeom prst="roundRect">
            <a:avLst>
              <a:gd name="adj" fmla="val 6512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34" name="Leitura texto"/>
          <p:cNvSpPr txBox="1"/>
          <p:nvPr/>
        </p:nvSpPr>
        <p:spPr>
          <a:xfrm>
            <a:off x="8732520" y="4370832"/>
            <a:ext cx="286207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A cada 100 leads: 42 reuniões, 21 propostas e 4,0 fechamentos.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Em 49% dos EC-mês não houve nenhum fechamento.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11 · FUNIL POR FRANQUIA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Conversão do funil de 2,9% a 5,6% entre franquias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 maior diferença está em proposta → fechamento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execucao_comercial (2024), por id_franquia · em vermelho: abaixo da taxa da rede</a:t>
            </a:r>
            <a:endParaRPr lang="en-US" sz="1000" dirty="0"/>
          </a:p>
        </p:txBody>
      </p:sp>
      <p:graphicFrame>
        <p:nvGraphicFramePr>
          <p:cNvPr id="13" name="Funil franqu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914400"/>
                <a:gridCol w="914400"/>
                <a:gridCol w="1005840"/>
                <a:gridCol w="1143000"/>
                <a:gridCol w="1234440"/>
                <a:gridCol w="1280160"/>
                <a:gridCol w="1188720"/>
                <a:gridCol w="121615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reunião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Reunião → proposta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 → fechamento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fechamento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nMRR por fechamento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Capital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Interior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12 · FUNIL MÊS A MÊS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Fechamentos e nMRR oscilam de mês a mês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de 21 a 40 fechamentos por mês na rede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execucao_comercial (2024)</a:t>
            </a:r>
            <a:endParaRPr lang="en-US" sz="1000" dirty="0"/>
          </a:p>
        </p:txBody>
      </p:sp>
      <p:graphicFrame>
        <p:nvGraphicFramePr>
          <p:cNvPr id="5" name="Fech mes" descr=""/>
          <p:cNvGraphicFramePr/>
          <p:nvPr/>
        </p:nvGraphicFramePr>
        <p:xfrm>
          <a:off x="548640" y="178308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nMRR mes" descr=""/>
          <p:cNvGraphicFramePr/>
          <p:nvPr/>
        </p:nvGraphicFramePr>
        <p:xfrm>
          <a:off x="6217920" y="1783080"/>
          <a:ext cx="551383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Taxas 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reunião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Reunião → proposta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 → fechamento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13 · FRANQUIAS: REALIZADO × META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 de 15 franquias abaixo da meta, gap de R$ 19,5 mil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as 6 que batem a meta cobrem o gap e levam a rede a 100,5%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franquias (meta_nmrr_mes, realizado_nmrr_mes, num_executivos)</a:t>
            </a:r>
            <a:endParaRPr lang="en-US" sz="1000" dirty="0"/>
          </a:p>
        </p:txBody>
      </p:sp>
      <p:graphicFrame>
        <p:nvGraphicFramePr>
          <p:cNvPr id="5" name="Meta x realizado" descr=""/>
          <p:cNvGraphicFramePr/>
          <p:nvPr/>
        </p:nvGraphicFramePr>
        <p:xfrm>
          <a:off x="548640" y="17830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Franqui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5138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"/>
                <a:gridCol w="868680"/>
                <a:gridCol w="868680"/>
                <a:gridCol w="731520"/>
                <a:gridCol w="685800"/>
                <a:gridCol w="713232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Interior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14 · UF E REGIÃO: REALIZADO × META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Norte, Nordeste e Centro-Oeste abaixo da meta como região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Sudeste e Sul batem a meta; o gap delas está só no RJ e no RS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franquias agregadas por estado e região (SP soma SP Capital e SP Interior)</a:t>
            </a:r>
            <a:endParaRPr lang="en-US" sz="1000" dirty="0"/>
          </a:p>
        </p:txBody>
      </p:sp>
      <p:graphicFrame>
        <p:nvGraphicFramePr>
          <p:cNvPr id="16" name="U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548640"/>
                <a:gridCol w="1051560"/>
                <a:gridCol w="10515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Regi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83080"/>
          <a:ext cx="52395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502920"/>
                <a:gridCol w="822960"/>
                <a:gridCol w="822960"/>
                <a:gridCol w="731520"/>
                <a:gridCol w="713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R$ 29.500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R$ 138.000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R$ 148.000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R$ 72.000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R$ 78.000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Leitura"/>
          <p:cNvSpPr/>
          <p:nvPr/>
        </p:nvSpPr>
        <p:spPr>
          <a:xfrm>
            <a:off x="6492240" y="3886200"/>
            <a:ext cx="5239512" cy="2377440"/>
          </a:xfrm>
          <a:prstGeom prst="roundRect">
            <a:avLst>
              <a:gd name="adj" fmla="val 5385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8" name="Leitura texto"/>
          <p:cNvSpPr txBox="1"/>
          <p:nvPr/>
        </p:nvSpPr>
        <p:spPr>
          <a:xfrm>
            <a:off x="6629400" y="3959352"/>
            <a:ext cx="496519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Rede: R$ 299.000 de R$ 297.500 (100,5%).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Gap = soma do que falta nas franquias abaixo da meta da região.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MT, MS, MA e RO têm contadores no mercado, mas nenhuma franquia: não têm meta nem realizado.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15 · EC: REALIZADO × META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Meta de R$ 6.761 e realizado de R$ 6.795 por EC na rede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 base não identifica o EC: leitura por EC equivalente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franquias (meta e realizado ÷ num_executivos) · execucao_comercial (2024, por EC-mês)</a:t>
            </a:r>
            <a:endParaRPr lang="en-US" sz="1000" dirty="0"/>
          </a:p>
        </p:txBody>
      </p:sp>
      <p:graphicFrame>
        <p:nvGraphicFramePr>
          <p:cNvPr id="17" name="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"/>
                <a:gridCol w="914400"/>
                <a:gridCol w="1005840"/>
                <a:gridCol w="731520"/>
                <a:gridCol w="822960"/>
                <a:gridCol w="914400"/>
                <a:gridCol w="914400"/>
                <a:gridCol w="91440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por 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 por 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por EC-mês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Fechamentos por EC-mês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EC-mês sem fechamento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nMRR execução por EC-mês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Interior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Fech dist" descr=""/>
          <p:cNvGraphicFramePr/>
          <p:nvPr/>
        </p:nvGraphicFramePr>
        <p:xfrm>
          <a:off x="8595360" y="1783080"/>
          <a:ext cx="313639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itura"/>
          <p:cNvSpPr/>
          <p:nvPr/>
        </p:nvSpPr>
        <p:spPr>
          <a:xfrm>
            <a:off x="8595360" y="4297680"/>
            <a:ext cx="3136392" cy="1965960"/>
          </a:xfrm>
          <a:prstGeom prst="roundRect">
            <a:avLst>
              <a:gd name="adj" fmla="val 6512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8" name="Leitura texto"/>
          <p:cNvSpPr txBox="1"/>
          <p:nvPr/>
        </p:nvSpPr>
        <p:spPr>
          <a:xfrm>
            <a:off x="8732520" y="4370832"/>
            <a:ext cx="286207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 que os dados mostram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id_executivo é 1 por franquia, repetido por EC: não dá para ranquear ECs individuais.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• 49% dos EC-mês sem fechamento; o máximo foi 4 em um mês.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16 · QUALIDADE DE DADOS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Antes de ler os KPIs, cinco cuidados com a base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o mesmo nMRR aparece em três escalas diferentes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Comparações entre as tabelas da própria base</a:t>
            </a:r>
            <a:endParaRPr lang="en-US" sz="1000" dirty="0"/>
          </a:p>
        </p:txBody>
      </p:sp>
      <p:graphicFrame>
        <p:nvGraphicFramePr>
          <p:cNvPr id="18" name="Qualida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50215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base mostra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na leitura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nMRR em três escalas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franquias R$ 299 mil/mês · execução R$ 17 mil/mês · Ganhos do CRM R$ 2,8 mil/mês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sempre dentro da mesma fonte; meta × realizado só em franquias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individual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id_executivo por franquia, repetido num_executivos vezes por 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por EC equivalente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Cliente: três definições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contratos ativos sem status Cliente Ativo; 87 com status sem contrato; 52 contratos com converteu_omie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status_omie e converteu_omie não medem cliente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operação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meses_operando × atingimento = 0,65; pela data_inicio = -0,37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duas colunas contam histórias opostas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com usa_erp = Não e ERP de mercado; 3 contadores duplicados em clientes_ativos; 20 leads abertos de clientes ativos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de perfil e pipeline com ruído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17 · PAINEL EXECUTIVO DO CANAL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Os KPIs que a gerência precisa acompanhar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 cenário do canal em um único slide</a:t>
            </a:r>
            <a:endParaRPr lang="en-US" sz="2800" dirty="0"/>
          </a:p>
        </p:txBody>
      </p:sp>
      <p:sp>
        <p:nvSpPr>
          <p:cNvPr id="4" name="Bloco 1"/>
          <p:cNvSpPr/>
          <p:nvPr/>
        </p:nvSpPr>
        <p:spPr>
          <a:xfrm>
            <a:off x="548640" y="178308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5" name="Bloco 1 texto"/>
          <p:cNvSpPr txBox="1"/>
          <p:nvPr/>
        </p:nvSpPr>
        <p:spPr>
          <a:xfrm>
            <a:off x="548640" y="1783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7"/>
                </a:solidFill>
              </a:rPr>
              <a:t>Receita e meta</a:t>
            </a:r>
            <a:endParaRPr lang="en-US" sz="1300" dirty="0"/>
          </a:p>
        </p:txBody>
      </p:sp>
      <p:sp>
        <p:nvSpPr>
          <p:cNvPr id="6" name="KPI 1.1"/>
          <p:cNvSpPr/>
          <p:nvPr/>
        </p:nvSpPr>
        <p:spPr>
          <a:xfrm>
            <a:off x="548640" y="226771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7" name="KPI 1.1 valor"/>
          <p:cNvSpPr txBox="1"/>
          <p:nvPr/>
        </p:nvSpPr>
        <p:spPr>
          <a:xfrm>
            <a:off x="685800" y="23134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100,5%</a:t>
            </a:r>
            <a:endParaRPr lang="en-US" sz="2000" dirty="0"/>
          </a:p>
        </p:txBody>
      </p:sp>
      <p:sp>
        <p:nvSpPr>
          <p:cNvPr id="8" name="KPI 1.1 rótulo"/>
          <p:cNvSpPr txBox="1"/>
          <p:nvPr/>
        </p:nvSpPr>
        <p:spPr>
          <a:xfrm>
            <a:off x="685800" y="27432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atingimento da rede (R$ 299 mil de R$ 297,5 mil/mês)</a:t>
            </a:r>
            <a:endParaRPr lang="en-US" sz="1050" dirty="0"/>
          </a:p>
        </p:txBody>
      </p:sp>
      <p:sp>
        <p:nvSpPr>
          <p:cNvPr id="9" name="KPI 1.2"/>
          <p:cNvSpPr/>
          <p:nvPr/>
        </p:nvSpPr>
        <p:spPr>
          <a:xfrm>
            <a:off x="548640" y="32735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0" name="KPI 1.2 valor"/>
          <p:cNvSpPr txBox="1"/>
          <p:nvPr/>
        </p:nvSpPr>
        <p:spPr>
          <a:xfrm>
            <a:off x="685800" y="3319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 de 15</a:t>
            </a:r>
            <a:endParaRPr lang="en-US" sz="2000" dirty="0"/>
          </a:p>
        </p:txBody>
      </p:sp>
      <p:sp>
        <p:nvSpPr>
          <p:cNvPr id="11" name="KPI 1.2 rótulo"/>
          <p:cNvSpPr txBox="1"/>
          <p:nvPr/>
        </p:nvSpPr>
        <p:spPr>
          <a:xfrm>
            <a:off x="685800" y="37490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franquias abaixo da meta · gap de R$ 19,5 mil/mês</a:t>
            </a:r>
            <a:endParaRPr lang="en-US" sz="1050" dirty="0"/>
          </a:p>
        </p:txBody>
      </p:sp>
      <p:sp>
        <p:nvSpPr>
          <p:cNvPr id="12" name="KPI 1.3"/>
          <p:cNvSpPr/>
          <p:nvPr/>
        </p:nvSpPr>
        <p:spPr>
          <a:xfrm>
            <a:off x="548640" y="427939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3" name="KPI 1.3 valor"/>
          <p:cNvSpPr txBox="1"/>
          <p:nvPr/>
        </p:nvSpPr>
        <p:spPr>
          <a:xfrm>
            <a:off x="685800" y="4325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74% · 82% · 89%</a:t>
            </a:r>
            <a:endParaRPr lang="en-US" sz="2000" dirty="0"/>
          </a:p>
        </p:txBody>
      </p:sp>
      <p:sp>
        <p:nvSpPr>
          <p:cNvPr id="14" name="KPI 1.3 rótulo"/>
          <p:cNvSpPr txBox="1"/>
          <p:nvPr/>
        </p:nvSpPr>
        <p:spPr>
          <a:xfrm>
            <a:off x="685800" y="4754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atingimento: Norte · Nordeste · Centro-Oeste</a:t>
            </a:r>
            <a:endParaRPr lang="en-US" sz="1050" dirty="0"/>
          </a:p>
        </p:txBody>
      </p:sp>
      <p:sp>
        <p:nvSpPr>
          <p:cNvPr id="15" name="KPI 1.4"/>
          <p:cNvSpPr/>
          <p:nvPr/>
        </p:nvSpPr>
        <p:spPr>
          <a:xfrm>
            <a:off x="548640" y="528523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6" name="KPI 1.4 valor"/>
          <p:cNvSpPr txBox="1"/>
          <p:nvPr/>
        </p:nvSpPr>
        <p:spPr>
          <a:xfrm>
            <a:off x="685800" y="53309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R$ 6.795</a:t>
            </a:r>
            <a:endParaRPr lang="en-US" sz="2000" dirty="0"/>
          </a:p>
        </p:txBody>
      </p:sp>
      <p:sp>
        <p:nvSpPr>
          <p:cNvPr id="17" name="KPI 1.4 rótulo"/>
          <p:cNvSpPr txBox="1"/>
          <p:nvPr/>
        </p:nvSpPr>
        <p:spPr>
          <a:xfrm>
            <a:off x="685800" y="5760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realizado por EC (meta R$ 6.761)</a:t>
            </a:r>
            <a:endParaRPr lang="en-US" sz="1050" dirty="0"/>
          </a:p>
        </p:txBody>
      </p:sp>
      <p:sp>
        <p:nvSpPr>
          <p:cNvPr id="18" name="Bloco 2"/>
          <p:cNvSpPr/>
          <p:nvPr/>
        </p:nvSpPr>
        <p:spPr>
          <a:xfrm>
            <a:off x="3355848" y="178308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19" name="Bloco 2 texto"/>
          <p:cNvSpPr txBox="1"/>
          <p:nvPr/>
        </p:nvSpPr>
        <p:spPr>
          <a:xfrm>
            <a:off x="3355848" y="1783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7"/>
                </a:solidFill>
              </a:rPr>
              <a:t>Aquisição e funil</a:t>
            </a:r>
            <a:endParaRPr lang="en-US" sz="1300" dirty="0"/>
          </a:p>
        </p:txBody>
      </p:sp>
      <p:sp>
        <p:nvSpPr>
          <p:cNvPr id="20" name="KPI 2.1"/>
          <p:cNvSpPr/>
          <p:nvPr/>
        </p:nvSpPr>
        <p:spPr>
          <a:xfrm>
            <a:off x="3355848" y="226771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21" name="KPI 2.1 valor"/>
          <p:cNvSpPr txBox="1"/>
          <p:nvPr/>
        </p:nvSpPr>
        <p:spPr>
          <a:xfrm>
            <a:off x="3493008" y="23134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20,9%</a:t>
            </a:r>
            <a:endParaRPr lang="en-US" sz="2000" dirty="0"/>
          </a:p>
        </p:txBody>
      </p:sp>
      <p:sp>
        <p:nvSpPr>
          <p:cNvPr id="22" name="KPI 2.1 rótulo"/>
          <p:cNvSpPr txBox="1"/>
          <p:nvPr/>
        </p:nvSpPr>
        <p:spPr>
          <a:xfrm>
            <a:off x="3493008" y="27432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conversão lead → Ganho · win rate 64,0%</a:t>
            </a:r>
            <a:endParaRPr lang="en-US" sz="1050" dirty="0"/>
          </a:p>
        </p:txBody>
      </p:sp>
      <p:sp>
        <p:nvSpPr>
          <p:cNvPr id="23" name="KPI 2.2"/>
          <p:cNvSpPr/>
          <p:nvPr/>
        </p:nvSpPr>
        <p:spPr>
          <a:xfrm>
            <a:off x="3355848" y="32735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24" name="KPI 2.2 valor"/>
          <p:cNvSpPr txBox="1"/>
          <p:nvPr/>
        </p:nvSpPr>
        <p:spPr>
          <a:xfrm>
            <a:off x="3493008" y="3319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4,0%</a:t>
            </a:r>
            <a:endParaRPr lang="en-US" sz="2000" dirty="0"/>
          </a:p>
        </p:txBody>
      </p:sp>
      <p:sp>
        <p:nvSpPr>
          <p:cNvPr id="25" name="KPI 2.2 rótulo"/>
          <p:cNvSpPr txBox="1"/>
          <p:nvPr/>
        </p:nvSpPr>
        <p:spPr>
          <a:xfrm>
            <a:off x="3493008" y="37490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conversão total do funil (fechamentos ÷ leads trabalhados)</a:t>
            </a:r>
            <a:endParaRPr lang="en-US" sz="1050" dirty="0"/>
          </a:p>
        </p:txBody>
      </p:sp>
      <p:sp>
        <p:nvSpPr>
          <p:cNvPr id="26" name="KPI 2.3"/>
          <p:cNvSpPr/>
          <p:nvPr/>
        </p:nvSpPr>
        <p:spPr>
          <a:xfrm>
            <a:off x="3355848" y="427939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27" name="KPI 2.3 valor"/>
          <p:cNvSpPr txBox="1"/>
          <p:nvPr/>
        </p:nvSpPr>
        <p:spPr>
          <a:xfrm>
            <a:off x="3493008" y="4325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19,3%</a:t>
            </a:r>
            <a:endParaRPr lang="en-US" sz="2000" dirty="0"/>
          </a:p>
        </p:txBody>
      </p:sp>
      <p:sp>
        <p:nvSpPr>
          <p:cNvPr id="28" name="KPI 2.3 rótulo"/>
          <p:cNvSpPr txBox="1"/>
          <p:nvPr/>
        </p:nvSpPr>
        <p:spPr>
          <a:xfrm>
            <a:off x="3493008" y="4754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proposta → fechamento: a etapa mais estreita</a:t>
            </a:r>
            <a:endParaRPr lang="en-US" sz="1050" dirty="0"/>
          </a:p>
        </p:txBody>
      </p:sp>
      <p:sp>
        <p:nvSpPr>
          <p:cNvPr id="29" name="KPI 2.4"/>
          <p:cNvSpPr/>
          <p:nvPr/>
        </p:nvSpPr>
        <p:spPr>
          <a:xfrm>
            <a:off x="3355848" y="528523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30" name="KPI 2.4 valor"/>
          <p:cNvSpPr txBox="1"/>
          <p:nvPr/>
        </p:nvSpPr>
        <p:spPr>
          <a:xfrm>
            <a:off x="3493008" y="53309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44,7 dias</a:t>
            </a:r>
            <a:endParaRPr lang="en-US" sz="2000" dirty="0"/>
          </a:p>
        </p:txBody>
      </p:sp>
      <p:sp>
        <p:nvSpPr>
          <p:cNvPr id="31" name="KPI 2.4 rótulo"/>
          <p:cNvSpPr txBox="1"/>
          <p:nvPr/>
        </p:nvSpPr>
        <p:spPr>
          <a:xfrm>
            <a:off x="3493008" y="5760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ciclo médio do Ganho · 33,0 tentativas por Ganho</a:t>
            </a:r>
            <a:endParaRPr lang="en-US" sz="1050" dirty="0"/>
          </a:p>
        </p:txBody>
      </p:sp>
      <p:sp>
        <p:nvSpPr>
          <p:cNvPr id="32" name="Bloco 3"/>
          <p:cNvSpPr/>
          <p:nvPr/>
        </p:nvSpPr>
        <p:spPr>
          <a:xfrm>
            <a:off x="6163056" y="178308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33" name="Bloco 3 texto"/>
          <p:cNvSpPr txBox="1"/>
          <p:nvPr/>
        </p:nvSpPr>
        <p:spPr>
          <a:xfrm>
            <a:off x="6163056" y="1783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7"/>
                </a:solidFill>
              </a:rPr>
              <a:t>Pipeline e previsão</a:t>
            </a:r>
            <a:endParaRPr lang="en-US" sz="1300" dirty="0"/>
          </a:p>
        </p:txBody>
      </p:sp>
      <p:sp>
        <p:nvSpPr>
          <p:cNvPr id="34" name="KPI 3.1"/>
          <p:cNvSpPr/>
          <p:nvPr/>
        </p:nvSpPr>
        <p:spPr>
          <a:xfrm>
            <a:off x="6163056" y="226771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35" name="KPI 3.1 valor"/>
          <p:cNvSpPr txBox="1"/>
          <p:nvPr/>
        </p:nvSpPr>
        <p:spPr>
          <a:xfrm>
            <a:off x="6300216" y="23134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6,9 a 8,1</a:t>
            </a:r>
            <a:endParaRPr lang="en-US" sz="2000" dirty="0"/>
          </a:p>
        </p:txBody>
      </p:sp>
      <p:sp>
        <p:nvSpPr>
          <p:cNvPr id="36" name="KPI 3.1 rótulo"/>
          <p:cNvSpPr txBox="1"/>
          <p:nvPr/>
        </p:nvSpPr>
        <p:spPr>
          <a:xfrm>
            <a:off x="6300216" y="27432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Ganhos previstos no próximo trimestre (pipeline ponderado e run-rate)</a:t>
            </a:r>
            <a:endParaRPr lang="en-US" sz="1050" dirty="0"/>
          </a:p>
        </p:txBody>
      </p:sp>
      <p:sp>
        <p:nvSpPr>
          <p:cNvPr id="37" name="KPI 3.2"/>
          <p:cNvSpPr/>
          <p:nvPr/>
        </p:nvSpPr>
        <p:spPr>
          <a:xfrm>
            <a:off x="6163056" y="32735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38" name="KPI 3.2 valor"/>
          <p:cNvSpPr txBox="1"/>
          <p:nvPr/>
        </p:nvSpPr>
        <p:spPr>
          <a:xfrm>
            <a:off x="6300216" y="3319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56%</a:t>
            </a:r>
            <a:endParaRPr lang="en-US" sz="2000" dirty="0"/>
          </a:p>
        </p:txBody>
      </p:sp>
      <p:sp>
        <p:nvSpPr>
          <p:cNvPr id="39" name="KPI 3.2 rótulo"/>
          <p:cNvSpPr txBox="1"/>
          <p:nvPr/>
        </p:nvSpPr>
        <p:spPr>
          <a:xfrm>
            <a:off x="6300216" y="37490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do pipeline aberto parado há mais de 90 dias (133 de 236)</a:t>
            </a:r>
            <a:endParaRPr lang="en-US" sz="1050" dirty="0"/>
          </a:p>
        </p:txBody>
      </p:sp>
      <p:sp>
        <p:nvSpPr>
          <p:cNvPr id="40" name="KPI 3.3"/>
          <p:cNvSpPr/>
          <p:nvPr/>
        </p:nvSpPr>
        <p:spPr>
          <a:xfrm>
            <a:off x="6163056" y="427939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41" name="KPI 3.3 valor"/>
          <p:cNvSpPr txBox="1"/>
          <p:nvPr/>
        </p:nvSpPr>
        <p:spPr>
          <a:xfrm>
            <a:off x="6300216" y="4325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R$ 1.026</a:t>
            </a:r>
            <a:endParaRPr lang="en-US" sz="2000" dirty="0"/>
          </a:p>
        </p:txBody>
      </p:sp>
      <p:sp>
        <p:nvSpPr>
          <p:cNvPr id="42" name="KPI 3.3 rótulo"/>
          <p:cNvSpPr txBox="1"/>
          <p:nvPr/>
        </p:nvSpPr>
        <p:spPr>
          <a:xfrm>
            <a:off x="6300216" y="4754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ticket médio do novo cliente (MRR inicial)</a:t>
            </a:r>
            <a:endParaRPr lang="en-US" sz="1050" dirty="0"/>
          </a:p>
        </p:txBody>
      </p:sp>
      <p:sp>
        <p:nvSpPr>
          <p:cNvPr id="43" name="KPI 3.4"/>
          <p:cNvSpPr/>
          <p:nvPr/>
        </p:nvSpPr>
        <p:spPr>
          <a:xfrm>
            <a:off x="6163056" y="528523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44" name="KPI 3.4 valor"/>
          <p:cNvSpPr txBox="1"/>
          <p:nvPr/>
        </p:nvSpPr>
        <p:spPr>
          <a:xfrm>
            <a:off x="6300216" y="53309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0,9%</a:t>
            </a:r>
            <a:endParaRPr lang="en-US" sz="2000" dirty="0"/>
          </a:p>
        </p:txBody>
      </p:sp>
      <p:sp>
        <p:nvSpPr>
          <p:cNvPr id="45" name="KPI 3.4 rótulo"/>
          <p:cNvSpPr txBox="1"/>
          <p:nvPr/>
        </p:nvSpPr>
        <p:spPr>
          <a:xfrm>
            <a:off x="6300216" y="5760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do nMRR oficial registrado como Ganho no CRM</a:t>
            </a:r>
            <a:endParaRPr lang="en-US" sz="1050" dirty="0"/>
          </a:p>
        </p:txBody>
      </p:sp>
      <p:sp>
        <p:nvSpPr>
          <p:cNvPr id="46" name="Bloco 4"/>
          <p:cNvSpPr/>
          <p:nvPr/>
        </p:nvSpPr>
        <p:spPr>
          <a:xfrm>
            <a:off x="8970264" y="178308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5875">
            <a:solidFill>
              <a:srgbClr val="00E2F4"/>
            </a:solidFill>
            <a:prstDash val="solid"/>
          </a:ln>
        </p:spPr>
      </p:sp>
      <p:sp>
        <p:nvSpPr>
          <p:cNvPr id="47" name="Bloco 4 texto"/>
          <p:cNvSpPr txBox="1"/>
          <p:nvPr/>
        </p:nvSpPr>
        <p:spPr>
          <a:xfrm>
            <a:off x="8970264" y="1783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7"/>
                </a:solidFill>
              </a:rPr>
              <a:t>Carteira e capacidade</a:t>
            </a:r>
            <a:endParaRPr lang="en-US" sz="1300" dirty="0"/>
          </a:p>
        </p:txBody>
      </p:sp>
      <p:sp>
        <p:nvSpPr>
          <p:cNvPr id="48" name="KPI 4.1"/>
          <p:cNvSpPr/>
          <p:nvPr/>
        </p:nvSpPr>
        <p:spPr>
          <a:xfrm>
            <a:off x="8970264" y="226771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49" name="KPI 4.1 valor"/>
          <p:cNvSpPr txBox="1"/>
          <p:nvPr/>
        </p:nvSpPr>
        <p:spPr>
          <a:xfrm>
            <a:off x="9107424" y="23134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20,5%</a:t>
            </a:r>
            <a:endParaRPr lang="en-US" sz="2000" dirty="0"/>
          </a:p>
        </p:txBody>
      </p:sp>
      <p:sp>
        <p:nvSpPr>
          <p:cNvPr id="50" name="KPI 4.1 rótulo"/>
          <p:cNvSpPr txBox="1"/>
          <p:nvPr/>
        </p:nvSpPr>
        <p:spPr>
          <a:xfrm>
            <a:off x="9107424" y="27432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churn de contratos · MRR em 89,7% do inicial</a:t>
            </a:r>
            <a:endParaRPr lang="en-US" sz="1050" dirty="0"/>
          </a:p>
        </p:txBody>
      </p:sp>
      <p:sp>
        <p:nvSpPr>
          <p:cNvPr id="51" name="KPI 4.2"/>
          <p:cNvSpPr/>
          <p:nvPr/>
        </p:nvSpPr>
        <p:spPr>
          <a:xfrm>
            <a:off x="8970264" y="32735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52" name="KPI 4.2 valor"/>
          <p:cNvSpPr txBox="1"/>
          <p:nvPr/>
        </p:nvSpPr>
        <p:spPr>
          <a:xfrm>
            <a:off x="9107424" y="3319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0% × 33%</a:t>
            </a:r>
            <a:endParaRPr lang="en-US" sz="2000" dirty="0"/>
          </a:p>
        </p:txBody>
      </p:sp>
      <p:sp>
        <p:nvSpPr>
          <p:cNvPr id="53" name="KPI 4.2 rótulo"/>
          <p:cNvSpPr txBox="1"/>
          <p:nvPr/>
        </p:nvSpPr>
        <p:spPr>
          <a:xfrm>
            <a:off x="9107424" y="37490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churn com upsell × sem upsell</a:t>
            </a:r>
            <a:endParaRPr lang="en-US" sz="1050" dirty="0"/>
          </a:p>
        </p:txBody>
      </p:sp>
      <p:sp>
        <p:nvSpPr>
          <p:cNvPr id="54" name="KPI 4.3"/>
          <p:cNvSpPr/>
          <p:nvPr/>
        </p:nvSpPr>
        <p:spPr>
          <a:xfrm>
            <a:off x="8970264" y="427939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55" name="KPI 4.3 valor"/>
          <p:cNvSpPr txBox="1"/>
          <p:nvPr/>
        </p:nvSpPr>
        <p:spPr>
          <a:xfrm>
            <a:off x="9107424" y="4325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7,6 × 3,6</a:t>
            </a:r>
            <a:endParaRPr lang="en-US" sz="2000" dirty="0"/>
          </a:p>
        </p:txBody>
      </p:sp>
      <p:sp>
        <p:nvSpPr>
          <p:cNvPr id="56" name="KPI 4.3 rótulo"/>
          <p:cNvSpPr txBox="1"/>
          <p:nvPr/>
        </p:nvSpPr>
        <p:spPr>
          <a:xfrm>
            <a:off x="9107424" y="4754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NPS dos ativos × dos que saíram</a:t>
            </a:r>
            <a:endParaRPr lang="en-US" sz="1050" dirty="0"/>
          </a:p>
        </p:txBody>
      </p:sp>
      <p:sp>
        <p:nvSpPr>
          <p:cNvPr id="57" name="KPI 4.4"/>
          <p:cNvSpPr/>
          <p:nvPr/>
        </p:nvSpPr>
        <p:spPr>
          <a:xfrm>
            <a:off x="8970264" y="528523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58" name="KPI 4.4 valor"/>
          <p:cNvSpPr txBox="1"/>
          <p:nvPr/>
        </p:nvSpPr>
        <p:spPr>
          <a:xfrm>
            <a:off x="9107424" y="53309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49%</a:t>
            </a:r>
            <a:endParaRPr lang="en-US" sz="2000" dirty="0"/>
          </a:p>
        </p:txBody>
      </p:sp>
      <p:sp>
        <p:nvSpPr>
          <p:cNvPr id="59" name="KPI 4.4 rótulo"/>
          <p:cNvSpPr txBox="1"/>
          <p:nvPr/>
        </p:nvSpPr>
        <p:spPr>
          <a:xfrm>
            <a:off x="9107424" y="5760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dos EC-mês sem fechamento · 16,5 leads por EC-mês</a:t>
            </a:r>
            <a:endParaRPr lang="en-US" sz="1050" dirty="0"/>
          </a:p>
        </p:txBody>
      </p:sp>
      <p:sp>
        <p:nvSpPr>
          <p:cNvPr id="60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3D9"/>
                </a:solidFill>
              </a:rPr>
              <a:t>Em amarelo: pontos de atenção. Todos os números vêm das 5 tabelas da base do case (páginas 2 a 16 deste estudo).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ie Design System">
  <a:themeElements>
    <a:clrScheme name="Omie Design System">
      <a:dk1>
        <a:srgbClr val="001E27"/>
      </a:dk1>
      <a:lt1>
        <a:srgbClr val="FFFFFF"/>
      </a:lt1>
      <a:dk2>
        <a:srgbClr val="00535E"/>
      </a:dk2>
      <a:lt2>
        <a:srgbClr val="EAF8FA"/>
      </a:lt2>
      <a:accent1>
        <a:srgbClr val="00E2F4"/>
      </a:accent1>
      <a:accent2>
        <a:srgbClr val="006B79"/>
      </a:accent2>
      <a:accent3>
        <a:srgbClr val="F0505A"/>
      </a:accent3>
      <a:accent4>
        <a:srgbClr val="0B3440"/>
      </a:accent4>
      <a:accent5>
        <a:srgbClr val="72E4F5"/>
      </a:accent5>
      <a:accent6>
        <a:srgbClr val="FFB547"/>
      </a:accent6>
      <a:hlink>
        <a:srgbClr val="006B79"/>
      </a:hlink>
      <a:folHlink>
        <a:srgbClr val="00535E"/>
      </a:folHlink>
    </a:clrScheme>
    <a:fontScheme name="Omie Design System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do cenário - Canal de Contadores</dc:title>
  <dc:subject>PptxGenJS Presentation</dc:subject>
  <dc:creator>PptxGenJS</dc:creator>
  <cp:lastModifiedBy>PptxGenJS</cp:lastModifiedBy>
  <cp:revision>1</cp:revision>
  <dcterms:created xsi:type="dcterms:W3CDTF">2026-10-19T16:04:24Z</dcterms:created>
  <dcterms:modified xsi:type="dcterms:W3CDTF">2026-10-19T16:04:24Z</dcterms:modified>
</cp:coreProperties>
</file>